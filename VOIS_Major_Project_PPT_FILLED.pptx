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3400089" cy="861497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algn="r"/>
            <a:r>
              <a:rPr lang="en-US" b="1" dirty="0" sz="1600">
                <a:solidFill>
                  <a:srgbClr val="FFFFFF"/>
                </a:solidFill>
              </a:rPr>
              <a:t>VOIS AICTE Batch1 2026-2027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/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 wrap="square">
            <a:normAutofit/>
          </a:bodyPr>
          <a:lstStyle/>
          <a:p>
            <a:r>
              <a:rPr lang="en-GB" sz="2200" dirty="0" b="1">
                <a:solidFill>
                  <a:srgbClr val="FFFFFF"/>
                </a:solidFill>
              </a:rPr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z="1300">
                <a:solidFill>
                  <a:srgbClr val="DCDCDC"/>
                </a:solidFill>
              </a:rPr>
              <a:t>Major Project  |  Data Analytics  |  AICTE STU ID: XXXXXX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 wrap="square">
            <a:normAutofit fontScale="70000" lnSpcReduction="20000"/>
          </a:bodyPr>
          <a:lstStyle/>
          <a:p>
            <a:r>
              <a:rPr lang="en-US" dirty="0" sz="1300">
                <a:solidFill>
                  <a:srgbClr val="1E1E1E"/>
                </a:solidFill>
              </a:rPr>
              <a:t>Agricultural activities are influenced by seasonal variations in</a:t>
            </a:r>
          </a:p>
          <a:p>
            <a:r>
              <a:rPr lang="en-US" dirty="0" sz="1300">
                <a:solidFill>
                  <a:srgbClr val="1E1E1E"/>
                </a:solidFill>
              </a:rPr>
              <a:t>environmental conditions, farming practices, resource availability</a:t>
            </a:r>
          </a:p>
          <a:p>
            <a:r>
              <a:rPr lang="en-US" dirty="0" sz="1300">
                <a:solidFill>
                  <a:srgbClr val="1E1E1E"/>
                </a:solidFill>
              </a:rPr>
              <a:t>and market conditions. Agricultural performance differs across seasons.</a:t>
            </a:r>
          </a:p>
          <a:p>
            <a:r>
              <a:rPr lang="en-US" dirty="0" sz="1300">
                <a:solidFill>
                  <a:srgbClr val="1E1E1E"/>
                </a:solidFill>
              </a:rPr>
              <a:t/>
            </a:r>
          </a:p>
          <a:p>
            <a:r>
              <a:rPr lang="en-US" dirty="0" sz="1300">
                <a:solidFill>
                  <a:srgbClr val="1E1E1E"/>
                </a:solidFill>
              </a:rPr>
              <a:t>RAW DATA does not clearly reveal:</a:t>
            </a:r>
          </a:p>
          <a:p>
            <a:r>
              <a:rPr lang="en-US" dirty="0" sz="1300">
                <a:solidFill>
                  <a:srgbClr val="1E1E1E"/>
                </a:solidFill>
              </a:rPr>
              <a:t>  - How performance changes across Kharif, Rabi and Zaid seasons</a:t>
            </a:r>
          </a:p>
          <a:p>
            <a:r>
              <a:rPr lang="en-US" dirty="0" sz="1300">
                <a:solidFill>
                  <a:srgbClr val="1E1E1E"/>
                </a:solidFill>
              </a:rPr>
              <a:t>  - What patterns exist in different seasonal conditions</a:t>
            </a:r>
          </a:p>
          <a:p>
            <a:r>
              <a:rPr lang="en-US" dirty="0" sz="1300">
                <a:solidFill>
                  <a:srgbClr val="1E1E1E"/>
                </a:solidFill>
              </a:rPr>
              <a:t>  - Which factors drive seasonal differences</a:t>
            </a:r>
          </a:p>
          <a:p>
            <a:r>
              <a:rPr lang="en-US" dirty="0" sz="1300">
                <a:solidFill>
                  <a:srgbClr val="1E1E1E"/>
                </a:solidFill>
              </a:rPr>
              <a:t/>
            </a:r>
          </a:p>
          <a:p>
            <a:r>
              <a:rPr lang="en-US" dirty="0" sz="1300">
                <a:solidFill>
                  <a:srgbClr val="1E1E1E"/>
                </a:solidFill>
              </a:rPr>
              <a:t>OBJECTIVE: Analyze the agricultural dataset to investigate seasonal</a:t>
            </a:r>
          </a:p>
          <a:p>
            <a:r>
              <a:rPr lang="en-US" dirty="0" sz="1300">
                <a:solidFill>
                  <a:srgbClr val="1E1E1E"/>
                </a:solidFill>
              </a:rPr>
              <a:t>differences by identifying meaningful patterns, trends, relationships</a:t>
            </a:r>
          </a:p>
          <a:p>
            <a:r>
              <a:rPr lang="en-US" dirty="0" sz="1300">
                <a:solidFill>
                  <a:srgbClr val="1E1E1E"/>
                </a:solidFill>
              </a:rPr>
              <a:t>and variations — and develop data-driven recommendations.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 wrap="square">
            <a:normAutofit fontScale="90000"/>
          </a:bodyPr>
          <a:lstStyle/>
          <a:p>
            <a:r>
              <a:rPr lang="en-US" dirty="0" sz="1200"/>
              <a:t>Project Description</a:t>
            </a:r>
          </a:p>
          <a:p>
            <a:r>
              <a:rPr lang="en-US" dirty="0" sz="1200"/>
              <a:t/>
            </a:r>
          </a:p>
          <a:p>
            <a:r>
              <a:rPr lang="en-US" dirty="0" sz="1200"/>
              <a:t>Dataset:  4,000 farm records | 28 features | 3 seasons | 8 crops | 8 states</a:t>
            </a:r>
          </a:p>
          <a:p>
            <a:r>
              <a:rPr lang="en-US" dirty="0" sz="1200"/>
              <a:t/>
            </a:r>
          </a:p>
          <a:p>
            <a:r>
              <a:rPr lang="en-US" dirty="0" sz="1200"/>
              <a:t>Seasons Covered:</a:t>
            </a:r>
          </a:p>
          <a:p>
            <a:r>
              <a:rPr lang="en-US" dirty="0" sz="1200"/>
              <a:t>  Kharif (Jun-Nov)  |  Rabi (Nov-Apr)  |  Zaid (Apr-Jun)</a:t>
            </a:r>
          </a:p>
          <a:p>
            <a:r>
              <a:rPr lang="en-US" dirty="0" sz="1200"/>
              <a:t/>
            </a:r>
          </a:p>
          <a:p>
            <a:r>
              <a:rPr lang="en-US" dirty="0" sz="1200"/>
              <a:t>Analysis Pipeline:</a:t>
            </a:r>
          </a:p>
          <a:p>
            <a:r>
              <a:rPr lang="en-US" dirty="0" sz="1200"/>
              <a:t>  1. Data Cleaning   -- Season-wise median imputation, IQR outlier detection</a:t>
            </a:r>
          </a:p>
          <a:p>
            <a:r>
              <a:rPr lang="en-US" dirty="0" sz="1200"/>
              <a:t>  2. EDA             -- Distribution plots, KDE curves, seasonal comparisons</a:t>
            </a:r>
          </a:p>
          <a:p>
            <a:r>
              <a:rPr lang="en-US" dirty="0" sz="1200"/>
              <a:t>  3. Seasonal KPIs   -- Yield, profit, profitability rate, environmental conds</a:t>
            </a:r>
          </a:p>
          <a:p>
            <a:r>
              <a:rPr lang="en-US" dirty="0" sz="1200"/>
              <a:t>  4. Resource Usage  -- Fertilizer, pesticide, water efficiency, irrigation</a:t>
            </a:r>
          </a:p>
          <a:p>
            <a:r>
              <a:rPr lang="en-US" dirty="0" sz="1200"/>
              <a:t>  5. Economic Perf.  -- Revenue, cost, profit, market price analysis</a:t>
            </a:r>
          </a:p>
          <a:p>
            <a:r>
              <a:rPr lang="en-US" dirty="0" sz="1200"/>
              <a:t>  6. Crop Analysis   -- Crop x Season heatmaps, top performers per season</a:t>
            </a:r>
          </a:p>
          <a:p>
            <a:r>
              <a:rPr lang="en-US" dirty="0" sz="1200"/>
              <a:t>  7. Correlations    -- 16-feature correlation matrix, yield drivers</a:t>
            </a:r>
          </a:p>
          <a:p>
            <a:r>
              <a:rPr lang="en-US" dirty="0" sz="1200"/>
              <a:t>  8. Statistics      -- Kruskal-Wallis, Mann-Whitney U, Chi-square tests</a:t>
            </a:r>
          </a:p>
          <a:p>
            <a:r>
              <a:rPr lang="en-US" dirty="0" sz="1200"/>
              <a:t>  9. Anomaly Detect. -- Z-score outlier flagging, unusual pattern mining</a:t>
            </a:r>
          </a:p>
          <a:p>
            <a:r>
              <a:rPr lang="en-US" dirty="0" sz="1200"/>
              <a:t> 10. Insights        -- 10 evidence-based findings + 7 recommendations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r>
              <a:rPr lang="en-US" dirty="0" sz="1200">
                <a:solidFill>
                  <a:srgbClr val="1E1E1E"/>
                </a:solidFill>
              </a:rPr>
              <a:t>PRIMARY END USERS</a:t>
            </a:r>
          </a:p>
          <a:p>
            <a:r>
              <a:rPr lang="en-US" dirty="0" sz="1200">
                <a:solidFill>
                  <a:srgbClr val="1E1E1E"/>
                </a:solidFill>
              </a:rPr>
              <a:t/>
            </a:r>
          </a:p>
          <a:p>
            <a:r>
              <a:rPr lang="en-US" dirty="0" sz="1200">
                <a:solidFill>
                  <a:srgbClr val="1E1E1E"/>
                </a:solidFill>
              </a:rPr>
              <a:t>1.  Farmers &amp; Agricultural Cooperatives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   - Understand which season and crop combination is most profitable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   - Optimise resource usage (fertiliser, water, pesticide) by season</a:t>
            </a:r>
          </a:p>
          <a:p>
            <a:r>
              <a:rPr lang="en-US" dirty="0" sz="1200">
                <a:solidFill>
                  <a:srgbClr val="1E1E1E"/>
                </a:solidFill>
              </a:rPr>
              <a:t/>
            </a:r>
          </a:p>
          <a:p>
            <a:r>
              <a:rPr lang="en-US" dirty="0" sz="1200">
                <a:solidFill>
                  <a:srgbClr val="1E1E1E"/>
                </a:solidFill>
              </a:rPr>
              <a:t>2.  Government &amp; Agricultural Departments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   - Design season-specific subsidy and support programmes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   - Allocate irrigation and water resources more effectively</a:t>
            </a:r>
          </a:p>
          <a:p>
            <a:r>
              <a:rPr lang="en-US" dirty="0" sz="1200">
                <a:solidFill>
                  <a:srgbClr val="1E1E1E"/>
                </a:solidFill>
              </a:rPr>
              <a:t/>
            </a:r>
          </a:p>
          <a:p>
            <a:r>
              <a:rPr lang="en-US" dirty="0" sz="1200">
                <a:solidFill>
                  <a:srgbClr val="1E1E1E"/>
                </a:solidFill>
              </a:rPr>
              <a:t>3.  Agri-Finance Institutions &amp; Insurers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   - Assess seasonal risk profiles for credit and insurance products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   - Identify high-risk Zaid season farms for targeted support</a:t>
            </a:r>
          </a:p>
          <a:p>
            <a:r>
              <a:rPr lang="en-US" dirty="0" sz="1200">
                <a:solidFill>
                  <a:srgbClr val="1E1E1E"/>
                </a:solidFill>
              </a:rPr>
              <a:t/>
            </a:r>
          </a:p>
          <a:p>
            <a:r>
              <a:rPr lang="en-US" dirty="0" sz="1200">
                <a:solidFill>
                  <a:srgbClr val="1E1E1E"/>
                </a:solidFill>
              </a:rPr>
              <a:t>4.  Agri-Tech Companies &amp; Input Suppliers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   - Align seed, fertiliser and pesticide supply chains with seasonal demand</a:t>
            </a:r>
          </a:p>
          <a:p>
            <a:r>
              <a:rPr lang="en-US" dirty="0" sz="1200">
                <a:solidFill>
                  <a:srgbClr val="1E1E1E"/>
                </a:solidFill>
              </a:rPr>
              <a:t/>
            </a:r>
          </a:p>
          <a:p>
            <a:r>
              <a:rPr lang="en-US" dirty="0" sz="1200">
                <a:solidFill>
                  <a:srgbClr val="1E1E1E"/>
                </a:solidFill>
              </a:rPr>
              <a:t>5.  Researchers &amp; Policy Makers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   - Use seasonal patterns to guide evidence-based agricultural planning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 wrap="square"/>
          <a:lstStyle/>
          <a:p>
            <a:r>
              <a:rPr lang="en-US" dirty="0" sz="1200">
                <a:solidFill>
                  <a:srgbClr val="1E1E1E"/>
                </a:solidFill>
              </a:rPr>
              <a:t>PROGRAMMING LANGUAGE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Python 3.10+</a:t>
            </a:r>
          </a:p>
          <a:p>
            <a:r>
              <a:rPr lang="en-US" dirty="0" sz="1200">
                <a:solidFill>
                  <a:srgbClr val="1E1E1E"/>
                </a:solidFill>
              </a:rPr>
              <a:t/>
            </a:r>
          </a:p>
          <a:p>
            <a:r>
              <a:rPr lang="en-US" dirty="0" sz="1200">
                <a:solidFill>
                  <a:srgbClr val="1E1E1E"/>
                </a:solidFill>
              </a:rPr>
              <a:t>DATA MANIPULATION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pandas 2.x      -- Data loading, cleaning, groupby aggregations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numpy           -- Numerical operations, Z-score calculations</a:t>
            </a:r>
          </a:p>
          <a:p>
            <a:r>
              <a:rPr lang="en-US" dirty="0" sz="1200">
                <a:solidFill>
                  <a:srgbClr val="1E1E1E"/>
                </a:solidFill>
              </a:rPr>
              <a:t/>
            </a:r>
          </a:p>
          <a:p>
            <a:r>
              <a:rPr lang="en-US" dirty="0" sz="1200">
                <a:solidFill>
                  <a:srgbClr val="1E1E1E"/>
                </a:solidFill>
              </a:rPr>
              <a:t>DATA VISUALISATION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matplotlib      -- Histograms, bar charts, scatter plots, dashboards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seaborn         -- Box plots, violin plots, heatmaps, KDE overlays</a:t>
            </a:r>
          </a:p>
          <a:p>
            <a:r>
              <a:rPr lang="en-US" dirty="0" sz="1200">
                <a:solidFill>
                  <a:srgbClr val="1E1E1E"/>
                </a:solidFill>
              </a:rPr>
              <a:t/>
            </a:r>
          </a:p>
          <a:p>
            <a:r>
              <a:rPr lang="en-US" dirty="0" sz="1200">
                <a:solidFill>
                  <a:srgbClr val="1E1E1E"/>
                </a:solidFill>
              </a:rPr>
              <a:t>STATISTICAL ANALYSIS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scipy.stats     -- Kruskal-Wallis, Mann-Whitney U, Chi-square, Pearson r</a:t>
            </a:r>
          </a:p>
          <a:p>
            <a:r>
              <a:rPr lang="en-US" dirty="0" sz="1200">
                <a:solidFill>
                  <a:srgbClr val="1E1E1E"/>
                </a:solidFill>
              </a:rPr>
              <a:t/>
            </a:r>
          </a:p>
          <a:p>
            <a:r>
              <a:rPr lang="en-US" dirty="0" sz="1200">
                <a:solidFill>
                  <a:srgbClr val="1E1E1E"/>
                </a:solidFill>
              </a:rPr>
              <a:t>DEVELOPMENT ENVIRONMENT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Jupyter Notebook -- Interactive analysis, inline visualisations</a:t>
            </a:r>
          </a:p>
          <a:p>
            <a:r>
              <a:rPr lang="en-US" dirty="0" sz="1200">
                <a:solidFill>
                  <a:srgbClr val="1E1E1E"/>
                </a:solidFill>
              </a:rPr>
              <a:t/>
            </a:r>
          </a:p>
          <a:p>
            <a:r>
              <a:rPr lang="en-US" dirty="0" sz="1200">
                <a:solidFill>
                  <a:srgbClr val="1E1E1E"/>
                </a:solidFill>
              </a:rPr>
              <a:t>DATA FORMAT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CSV (4,000 rows x 28 columns)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seasonal_agriculture_performance_dataset.csv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4" name="Picture 23" descr="chart1_seasonal_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11612880" cy="4937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74320" y="77724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200" b="1">
                <a:solidFill>
                  <a:srgbClr val="FFFFFF"/>
                </a:solidFill>
              </a:rPr>
              <a:t>Seasonal KPI Overview  |  Dataset: 4,000 farms  |  3 Seasons  |  8 Crops  |  8 States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1" name="Picture 30" descr="chart2_yield_profit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11612880" cy="49377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74320" y="77724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200" b="1">
                <a:solidFill>
                  <a:srgbClr val="FFFFFF"/>
                </a:solidFill>
              </a:rPr>
              <a:t>Kharif: Best yield &amp; profit  |  Zaid: Negative median profit  |  Rabi: Stable but moderate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1" name="Picture 30" descr="chart3_enviro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11612880" cy="49377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74320" y="77724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200" b="1">
                <a:solidFill>
                  <a:srgbClr val="FFFFFF"/>
                </a:solidFill>
              </a:rPr>
              <a:t>Kharif: Highest rainfall &amp; humidity  |  Zaid: Highest temperature  |  Rabi: Moderate conditions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1" name="Picture 30" descr="chart4_cr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11612880" cy="49377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74320" y="77724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200" b="1">
                <a:solidFill>
                  <a:srgbClr val="FFFFFF"/>
                </a:solidFill>
              </a:rPr>
              <a:t>Sugarcane &amp; Rice: Top performers in Kharif  |  Sugarcane: Only crop beating Zaid average yield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1" name="Picture 30" descr="chart5_resources_e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7132320" cy="4937760"/>
          </a:xfrm>
          <a:prstGeom prst="rect">
            <a:avLst/>
          </a:prstGeom>
        </p:spPr>
      </p:pic>
      <p:pic>
        <p:nvPicPr>
          <p:cNvPr id="32" name="Picture 31" descr="chart6_stats_insigh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234440"/>
            <a:ext cx="4480560" cy="49377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74320" y="77724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200" b="1">
                <a:solidFill>
                  <a:srgbClr val="FFFFFF"/>
                </a:solidFill>
              </a:rPr>
              <a:t>Resource Usage &amp; Statistical Significance  |  Yield H=70.2 (p&lt;0.001)  |  Profit H=97.1 (p&lt;0.001)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z="1100">
                <a:solidFill>
                  <a:srgbClr val="1E1E1E"/>
                </a:solidFill>
              </a:rPr>
              <a:t>FUTURE SCOPE</a:t>
            </a:r>
          </a:p>
          <a:p>
            <a:r>
              <a:rPr lang="en-US" dirty="0" sz="1100">
                <a:solidFill>
                  <a:srgbClr val="1E1E1E"/>
                </a:solidFill>
              </a:rPr>
              <a:t/>
            </a:r>
          </a:p>
          <a:p>
            <a:r>
              <a:rPr lang="en-US" dirty="0" sz="1100">
                <a:solidFill>
                  <a:srgbClr val="1E1E1E"/>
                </a:solidFill>
              </a:rPr>
              <a:t>1.  Machine Learning Models</a:t>
            </a:r>
          </a:p>
          <a:p>
            <a:r>
              <a:rPr lang="en-US" dirty="0" sz="1100">
                <a:solidFill>
                  <a:srgbClr val="1E1E1E"/>
                </a:solidFill>
              </a:rPr>
              <a:t>     - Build predictive models (Random Forest, XGBoost) to forecast</a:t>
            </a:r>
          </a:p>
          <a:p>
            <a:r>
              <a:rPr lang="en-US" dirty="0" sz="1100">
                <a:solidFill>
                  <a:srgbClr val="1E1E1E"/>
                </a:solidFill>
              </a:rPr>
              <a:t>       crop yield and profit based on seasonal inputs</a:t>
            </a:r>
          </a:p>
          <a:p>
            <a:r>
              <a:rPr lang="en-US" dirty="0" sz="1100">
                <a:solidFill>
                  <a:srgbClr val="1E1E1E"/>
                </a:solidFill>
              </a:rPr>
              <a:t/>
            </a:r>
          </a:p>
          <a:p>
            <a:r>
              <a:rPr lang="en-US" dirty="0" sz="1100">
                <a:solidFill>
                  <a:srgbClr val="1E1E1E"/>
                </a:solidFill>
              </a:rPr>
              <a:t>2.  Real-time Data Integration</a:t>
            </a:r>
          </a:p>
          <a:p>
            <a:r>
              <a:rPr lang="en-US" dirty="0" sz="1100">
                <a:solidFill>
                  <a:srgbClr val="1E1E1E"/>
                </a:solidFill>
              </a:rPr>
              <a:t>     - Connect with live weather APIs and satellite imagery for</a:t>
            </a:r>
          </a:p>
          <a:p>
            <a:r>
              <a:rPr lang="en-US" dirty="0" sz="1100">
                <a:solidFill>
                  <a:srgbClr val="1E1E1E"/>
                </a:solidFill>
              </a:rPr>
              <a:t>       dynamic seasonal monitoring and early warning systems</a:t>
            </a:r>
          </a:p>
          <a:p>
            <a:r>
              <a:rPr lang="en-US" dirty="0" sz="1100">
                <a:solidFill>
                  <a:srgbClr val="1E1E1E"/>
                </a:solidFill>
              </a:rPr>
              <a:t/>
            </a:r>
          </a:p>
          <a:p>
            <a:r>
              <a:rPr lang="en-US" dirty="0" sz="1100">
                <a:solidFill>
                  <a:srgbClr val="1E1E1E"/>
                </a:solidFill>
              </a:rPr>
              <a:t>3.  Deep Seasonal Granularity</a:t>
            </a:r>
          </a:p>
          <a:p>
            <a:r>
              <a:rPr lang="en-US" dirty="0" sz="1100">
                <a:solidFill>
                  <a:srgbClr val="1E1E1E"/>
                </a:solidFill>
              </a:rPr>
              <a:t>     - Expand analysis to monthly or weekly intervals to capture</a:t>
            </a:r>
          </a:p>
          <a:p>
            <a:r>
              <a:rPr lang="en-US" dirty="0" sz="1100">
                <a:solidFill>
                  <a:srgbClr val="1E1E1E"/>
                </a:solidFill>
              </a:rPr>
              <a:t>       micro-seasonal patterns within Kharif, Rabi and Zaid</a:t>
            </a:r>
          </a:p>
          <a:p>
            <a:r>
              <a:rPr lang="en-US" dirty="0" sz="1100">
                <a:solidFill>
                  <a:srgbClr val="1E1E1E"/>
                </a:solidFill>
              </a:rPr>
              <a:t/>
            </a:r>
          </a:p>
          <a:p>
            <a:r>
              <a:rPr lang="en-US" dirty="0" sz="1100">
                <a:solidFill>
                  <a:srgbClr val="1E1E1E"/>
                </a:solidFill>
              </a:rPr>
              <a:t>4.  Geo-spatial Analysis</a:t>
            </a:r>
          </a:p>
          <a:p>
            <a:r>
              <a:rPr lang="en-US" dirty="0" sz="1100">
                <a:solidFill>
                  <a:srgbClr val="1E1E1E"/>
                </a:solidFill>
              </a:rPr>
              <a:t>     - Add district-level maps to visualise yield and profit hotspots</a:t>
            </a:r>
          </a:p>
          <a:p>
            <a:r>
              <a:rPr lang="en-US" dirty="0" sz="1100">
                <a:solidFill>
                  <a:srgbClr val="1E1E1E"/>
                </a:solidFill>
              </a:rPr>
              <a:t>       across all 8 states</a:t>
            </a:r>
          </a:p>
          <a:p>
            <a:r>
              <a:rPr lang="en-US" dirty="0" sz="1100">
                <a:solidFill>
                  <a:srgbClr val="1E1E1E"/>
                </a:solidFill>
              </a:rPr>
              <a:t/>
            </a:r>
          </a:p>
          <a:p>
            <a:r>
              <a:rPr lang="en-US" dirty="0" sz="1100">
                <a:solidFill>
                  <a:srgbClr val="1E1E1E"/>
                </a:solidFill>
              </a:rPr>
              <a:t>5.  Interactive Dashboard</a:t>
            </a:r>
          </a:p>
          <a:p>
            <a:r>
              <a:rPr lang="en-US" dirty="0" sz="1100">
                <a:solidFill>
                  <a:srgbClr val="1E1E1E"/>
                </a:solidFill>
              </a:rPr>
              <a:t>     - Develop a Power BI / Streamlit dashboard for farmers and</a:t>
            </a:r>
          </a:p>
          <a:p>
            <a:r>
              <a:rPr lang="en-US" dirty="0" sz="1100">
                <a:solidFill>
                  <a:srgbClr val="1E1E1E"/>
                </a:solidFill>
              </a:rPr>
              <a:t>       government agencies to explore seasonal insights in real-time</a:t>
            </a:r>
          </a:p>
          <a:p>
            <a:r>
              <a:rPr lang="en-US" dirty="0" sz="1100">
                <a:solidFill>
                  <a:srgbClr val="1E1E1E"/>
                </a:solidFill>
              </a:rPr>
              <a:t/>
            </a:r>
          </a:p>
          <a:p>
            <a:r>
              <a:rPr lang="en-US" dirty="0" sz="1100">
                <a:solidFill>
                  <a:srgbClr val="1E1E1E"/>
                </a:solidFill>
              </a:rPr>
              <a:t>6.  Climate Change Impact Study</a:t>
            </a:r>
          </a:p>
          <a:p>
            <a:r>
              <a:rPr lang="en-US" dirty="0" sz="1100">
                <a:solidFill>
                  <a:srgbClr val="1E1E1E"/>
                </a:solidFill>
              </a:rPr>
              <a:t>     - Analyse how changing rainfall and temperature trends are</a:t>
            </a:r>
          </a:p>
          <a:p>
            <a:r>
              <a:rPr lang="en-US" dirty="0" sz="1100">
                <a:solidFill>
                  <a:srgbClr val="1E1E1E"/>
                </a:solidFill>
              </a:rPr>
              <a:t>       shifting seasonal performance over multi-year datasets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z="1200">
                <a:solidFill>
                  <a:srgbClr val="1E1E1E"/>
                </a:solidFill>
              </a:rPr>
              <a:t>Project Repository</a:t>
            </a:r>
          </a:p>
          <a:p>
            <a:r>
              <a:rPr lang="en-US" dirty="0" sz="1200">
                <a:solidFill>
                  <a:srgbClr val="1E1E1E"/>
                </a:solidFill>
              </a:rPr>
              <a:t/>
            </a:r>
          </a:p>
          <a:p>
            <a:r>
              <a:rPr lang="en-US" dirty="0" sz="1200">
                <a:solidFill>
                  <a:srgbClr val="1E1E1E"/>
                </a:solidFill>
              </a:rPr>
              <a:t>All source code, Jupyter Notebook, dataset and charts</a:t>
            </a:r>
          </a:p>
          <a:p>
            <a:r>
              <a:rPr lang="en-US" dirty="0" sz="1200">
                <a:solidFill>
                  <a:srgbClr val="1E1E1E"/>
                </a:solidFill>
              </a:rPr>
              <a:t>are available at the GitHub repository below.</a:t>
            </a:r>
          </a:p>
          <a:p>
            <a:r>
              <a:rPr lang="en-US" dirty="0" sz="1200">
                <a:solidFill>
                  <a:srgbClr val="1E1E1E"/>
                </a:solidFill>
              </a:rPr>
              <a:t/>
            </a:r>
          </a:p>
          <a:p>
            <a:r>
              <a:rPr lang="en-US" dirty="0" sz="1200">
                <a:solidFill>
                  <a:srgbClr val="1E1E1E"/>
                </a:solidFill>
              </a:rPr>
              <a:t>Notebook file: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Seasonal_Agriculture_Performance_Analysis.ipynb</a:t>
            </a:r>
          </a:p>
          <a:p>
            <a:r>
              <a:rPr lang="en-US" dirty="0" sz="1200">
                <a:solidFill>
                  <a:srgbClr val="1E1E1E"/>
                </a:solidFill>
              </a:rPr>
              <a:t/>
            </a:r>
          </a:p>
          <a:p>
            <a:r>
              <a:rPr lang="en-US" dirty="0" sz="1200">
                <a:solidFill>
                  <a:srgbClr val="1E1E1E"/>
                </a:solidFill>
              </a:rPr>
              <a:t>Dataset:</a:t>
            </a:r>
          </a:p>
          <a:p>
            <a:r>
              <a:rPr lang="en-US" dirty="0" sz="1200">
                <a:solidFill>
                  <a:srgbClr val="1E1E1E"/>
                </a:solidFill>
              </a:rPr>
              <a:t>  seasonal_agriculture_performance_dataset.csv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https://github.com/AswiniKumar55/-Seasonal-Agriculture-Performance-Analysis-.git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z="1300">
                <a:solidFill>
                  <a:srgbClr val="505050"/>
                </a:solidFill>
              </a:rPr>
              <a:t>Please attach your VOIS Course Completion Certificate here.</a:t>
            </a:r>
          </a:p>
          <a:p>
            <a:r>
              <a:rPr lang="en-US" dirty="0" sz="1300">
                <a:solidFill>
                  <a:srgbClr val="505050"/>
                </a:solidFill>
              </a:rPr>
              <a:t/>
            </a:r>
          </a:p>
          <a:p>
            <a:r>
              <a:rPr lang="en-US" dirty="0" sz="1300">
                <a:solidFill>
                  <a:srgbClr val="505050"/>
                </a:solidFill>
              </a:rPr>
              <a:t>Course: Data Visualization</a:t>
            </a:r>
          </a:p>
          <a:p>
            <a:r>
              <a:rPr lang="en-US" dirty="0" sz="1300">
                <a:solidFill>
                  <a:srgbClr val="505050"/>
                </a:solidFill>
              </a:rPr>
              <a:t>Issued by: VOIS / AICTE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1356</TotalTime>
  <Words>202</Words>
  <Application>Microsoft Office PowerPoint</Application>
  <PresentationFormat>Widescreen</PresentationFormat>
  <Paragraphs>26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98</cp:revision>
  <dcterms:created xsi:type="dcterms:W3CDTF">2021-07-11T13:13:15Z</dcterms:created>
  <dcterms:modified xsi:type="dcterms:W3CDTF">2026-09-04T02:42:44Z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