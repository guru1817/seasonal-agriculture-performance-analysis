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3"/>
  </p:notesMasterIdLst>
  <p:handoutMasterIdLst>
    <p:handoutMasterId r:id="rId24"/>
  </p:handoutMasterIdLst>
  <p:sldIdLst>
    <p:sldId id="338" r:id="rId5"/>
    <p:sldId id="327" r:id="rId6"/>
    <p:sldId id="315" r:id="rId7"/>
    <p:sldId id="329" r:id="rId8"/>
    <p:sldId id="302" r:id="rId9"/>
    <p:sldId id="339" r:id="rId10"/>
    <p:sldId id="340" r:id="rId11"/>
    <p:sldId id="344" r:id="rId12"/>
    <p:sldId id="345" r:id="rId13"/>
    <p:sldId id="347" r:id="rId14"/>
    <p:sldId id="348" r:id="rId15"/>
    <p:sldId id="346" r:id="rId16"/>
    <p:sldId id="349" r:id="rId17"/>
    <p:sldId id="350" r:id="rId18"/>
    <p:sldId id="341" r:id="rId19"/>
    <p:sldId id="342" r:id="rId20"/>
    <p:sldId id="343" r:id="rId21"/>
    <p:sldId id="30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Guru1817/Seasonal-Agriculture-Performance-Analysis" TargetMode="Externa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027145" y="3518024"/>
            <a:ext cx="5373655" cy="861497"/>
          </a:xfrm>
        </p:spPr>
        <p:txBody>
          <a:bodyPr vert="horz" lIns="91440" tIns="45720" rIns="91440" bIns="45720" rtlCol="0" anchor="t">
            <a:normAutofit/>
          </a:bodyPr>
          <a:lstStyle/>
          <a:p>
            <a:r>
              <a:rPr lang="en-US" b="0" dirty="0">
                <a:solidFill>
                  <a:schemeClr val="tx1"/>
                </a:solidFill>
              </a:rPr>
              <a:t>Student Name -  Gurupada Nayak                </a:t>
            </a:r>
            <a:endParaRPr lang="en-IN" b="0" dirty="0">
              <a:solidFill>
                <a:schemeClr val="tx1"/>
              </a:solidFill>
            </a:endParaRPr>
          </a:p>
          <a:p>
            <a:r>
              <a:rPr lang="en-US" b="0" dirty="0">
                <a:solidFill>
                  <a:schemeClr val="tx1"/>
                </a:solidFill>
              </a:rPr>
              <a:t>College Name- Berhampur University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06052" y="2794001"/>
            <a:ext cx="10770298" cy="739164"/>
          </a:xfrm>
        </p:spPr>
        <p:txBody>
          <a:bodyPr>
            <a:noAutofit/>
          </a:bodyPr>
          <a:lstStyle/>
          <a:p>
            <a:r>
              <a:rPr lang="en-GB" sz="3200" dirty="0"/>
              <a:t>Project Title - Seasonal-Agriculture-Performance-Analysis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5518039" cy="369332"/>
          </a:xfrm>
          <a:prstGeom prst="rect">
            <a:avLst/>
          </a:prstGeom>
          <a:noFill/>
        </p:spPr>
        <p:txBody>
          <a:bodyPr wrap="square" rtlCol="0">
            <a:spAutoFit/>
          </a:bodyPr>
          <a:lstStyle/>
          <a:p>
            <a:r>
              <a:rPr lang="en-US" b="1" dirty="0"/>
              <a:t>AICTE STU ID : STU6a3444cd3a0691781810381</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75957" y="1222413"/>
            <a:ext cx="8524870" cy="4198389"/>
          </a:xfrm>
        </p:spPr>
        <p:txBody>
          <a:bodyPr vert="horz" lIns="91440" tIns="45720" rIns="91440" bIns="45720" rtlCol="0" anchor="t">
            <a:noAutofit/>
          </a:bodyPr>
          <a:lstStyle/>
          <a:p>
            <a:pPr>
              <a:lnSpc>
                <a:spcPct val="170000"/>
              </a:lnSpc>
            </a:pPr>
            <a:r>
              <a:rPr lang="en-IN" sz="1800" dirty="0"/>
              <a:t>(</a:t>
            </a:r>
            <a:r>
              <a:rPr lang="en-US" sz="1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r>
              <a:rPr lang="en-US" sz="1800" b="1" dirty="0"/>
              <a:t>.</a:t>
            </a:r>
            <a:endParaRPr lang="en-IN" sz="1800" b="1"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88657" y="611064"/>
            <a:ext cx="8238102" cy="958273"/>
          </a:xfrm>
        </p:spPr>
        <p:txBody>
          <a:bodyPr>
            <a:normAutofit/>
          </a:bodyPr>
          <a:lstStyle/>
          <a:p>
            <a:r>
              <a:rPr lang="en-GB" dirty="0"/>
              <a:t>Project Description</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350950BF-E814-1E87-B224-1B848E8B8B24}"/>
              </a:ext>
            </a:extLst>
          </p:cNvPr>
          <p:cNvSpPr txBox="1"/>
          <p:nvPr/>
        </p:nvSpPr>
        <p:spPr>
          <a:xfrm>
            <a:off x="770297" y="1085926"/>
            <a:ext cx="10651406" cy="5324535"/>
          </a:xfrm>
          <a:prstGeom prst="rect">
            <a:avLst/>
          </a:prstGeom>
          <a:noFill/>
        </p:spPr>
        <p:txBody>
          <a:bodyPr wrap="square" rtlCol="0">
            <a:spAutoFit/>
          </a:bodyPr>
          <a:lstStyle/>
          <a:p>
            <a:endParaRPr lang="en-US" sz="2000" b="1" dirty="0"/>
          </a:p>
          <a:p>
            <a:r>
              <a:rPr lang="en-US" sz="2000" b="1" dirty="0"/>
              <a:t>Dataset:  4,000 farm records | 28 features | 3 seasons | 8 crops | 8 states</a:t>
            </a:r>
          </a:p>
          <a:p>
            <a:endParaRPr lang="en-US" sz="2000" b="1" dirty="0"/>
          </a:p>
          <a:p>
            <a:r>
              <a:rPr lang="en-US" sz="2000" b="1" dirty="0"/>
              <a:t>Seasons Covered:</a:t>
            </a:r>
          </a:p>
          <a:p>
            <a:r>
              <a:rPr lang="en-US" sz="2000" b="1" dirty="0"/>
              <a:t>  </a:t>
            </a:r>
            <a:r>
              <a:rPr lang="en-US" sz="2000" dirty="0"/>
              <a:t>Kharif (Jun-Nov)  |  Rabi (Nov-Apr)  |  Zaid (Apr-Jun)</a:t>
            </a:r>
          </a:p>
          <a:p>
            <a:endParaRPr lang="en-US" sz="2000" dirty="0"/>
          </a:p>
          <a:p>
            <a:r>
              <a:rPr lang="en-US" sz="2000" b="1" dirty="0"/>
              <a:t>Analysis Pipeline:</a:t>
            </a:r>
          </a:p>
          <a:p>
            <a:r>
              <a:rPr lang="en-US" sz="2000" b="1" dirty="0"/>
              <a:t>  1. Data Cleaning   -- </a:t>
            </a:r>
            <a:r>
              <a:rPr lang="en-US" sz="2000" dirty="0"/>
              <a:t>Season-wise median imputation, IQR outlier detection</a:t>
            </a:r>
          </a:p>
          <a:p>
            <a:r>
              <a:rPr lang="en-US" sz="2000" b="1" dirty="0"/>
              <a:t>  2. EDA             -- </a:t>
            </a:r>
            <a:r>
              <a:rPr lang="en-US" sz="2000" dirty="0"/>
              <a:t>Distribution plots, KDE curves, seasonal comparisons</a:t>
            </a:r>
          </a:p>
          <a:p>
            <a:r>
              <a:rPr lang="en-US" sz="2000" b="1" dirty="0"/>
              <a:t>  3. Seasonal KPIs   -- </a:t>
            </a:r>
            <a:r>
              <a:rPr lang="en-US" sz="2000" dirty="0"/>
              <a:t>Yield, profit, profitability rate, environmental </a:t>
            </a:r>
            <a:r>
              <a:rPr lang="en-US" sz="2000" dirty="0" err="1"/>
              <a:t>conds</a:t>
            </a:r>
            <a:endParaRPr lang="en-US" sz="2000" dirty="0"/>
          </a:p>
          <a:p>
            <a:r>
              <a:rPr lang="en-US" sz="2000" b="1" dirty="0"/>
              <a:t>  4. Resource Usage  -- </a:t>
            </a:r>
            <a:r>
              <a:rPr lang="en-US" sz="2000" dirty="0"/>
              <a:t>Fertilizer, pesticide, water efficiency, irrigation</a:t>
            </a:r>
          </a:p>
          <a:p>
            <a:r>
              <a:rPr lang="en-US" sz="2000" b="1" dirty="0"/>
              <a:t>  5. Economic Perf.  -- </a:t>
            </a:r>
            <a:r>
              <a:rPr lang="en-US" sz="2000" dirty="0"/>
              <a:t>Revenue, cost, profit, market price analysis</a:t>
            </a:r>
          </a:p>
          <a:p>
            <a:r>
              <a:rPr lang="en-US" sz="2000" b="1" dirty="0"/>
              <a:t>  6. Crop Analysis   -- </a:t>
            </a:r>
            <a:r>
              <a:rPr lang="en-US" sz="2000" dirty="0"/>
              <a:t>Crop x Season heatmaps, top performers per season</a:t>
            </a:r>
          </a:p>
          <a:p>
            <a:r>
              <a:rPr lang="en-US" sz="2000" b="1" dirty="0"/>
              <a:t>  7. Correlations    -- </a:t>
            </a:r>
            <a:r>
              <a:rPr lang="en-US" sz="2000" dirty="0"/>
              <a:t>16-feature correlation matrix, yield drivers</a:t>
            </a:r>
          </a:p>
          <a:p>
            <a:r>
              <a:rPr lang="en-US" sz="2000" b="1" dirty="0"/>
              <a:t>  8. Statistics      -- </a:t>
            </a:r>
            <a:r>
              <a:rPr lang="en-US" sz="2000" dirty="0"/>
              <a:t>Kruskal-Wallis, Mann-Whitney U, Chi-square tests</a:t>
            </a:r>
          </a:p>
          <a:p>
            <a:r>
              <a:rPr lang="en-US" sz="2000" b="1" dirty="0"/>
              <a:t>  9. Anomaly Detect. -- </a:t>
            </a:r>
            <a:r>
              <a:rPr lang="en-US" sz="2000" dirty="0"/>
              <a:t>Z-score outlier flagging, unusual pattern mining</a:t>
            </a:r>
          </a:p>
          <a:p>
            <a:r>
              <a:rPr lang="en-US" sz="2000" b="1" dirty="0"/>
              <a:t> 10. Insights        -- </a:t>
            </a:r>
            <a:r>
              <a:rPr lang="en-US" sz="2000" dirty="0"/>
              <a:t>10 evidence-based findings + 7 recommendations</a:t>
            </a:r>
            <a:endParaRPr lang="en-IN" sz="20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960696"/>
            <a:ext cx="11470641" cy="5580064"/>
          </a:xfrm>
        </p:spPr>
        <p:txBody>
          <a:bodyPr>
            <a:noAutofit/>
          </a:bodyPr>
          <a:lstStyle/>
          <a:p>
            <a:pPr marL="0" indent="0">
              <a:buNone/>
            </a:pPr>
            <a:endParaRPr lang="en-US" dirty="0">
              <a:solidFill>
                <a:srgbClr val="1E1E1E"/>
              </a:solidFill>
            </a:endParaRPr>
          </a:p>
          <a:p>
            <a:r>
              <a:rPr lang="en-US" b="1" dirty="0">
                <a:solidFill>
                  <a:srgbClr val="1E1E1E"/>
                </a:solidFill>
              </a:rPr>
              <a:t>1.  Farmers &amp; Agricultural Cooperatives</a:t>
            </a:r>
          </a:p>
          <a:p>
            <a:r>
              <a:rPr lang="en-US" sz="1600" dirty="0">
                <a:solidFill>
                  <a:srgbClr val="1E1E1E"/>
                </a:solidFill>
              </a:rPr>
              <a:t>     - Understand which season and crop combination is most profitable</a:t>
            </a:r>
          </a:p>
          <a:p>
            <a:r>
              <a:rPr lang="en-US" sz="1600" dirty="0">
                <a:solidFill>
                  <a:srgbClr val="1E1E1E"/>
                </a:solidFill>
              </a:rPr>
              <a:t>     - Optimize resource usage (fertilizer, water, pesticide) by season</a:t>
            </a:r>
            <a:endParaRPr lang="en-US" dirty="0">
              <a:solidFill>
                <a:srgbClr val="1E1E1E"/>
              </a:solidFill>
            </a:endParaRPr>
          </a:p>
          <a:p>
            <a:r>
              <a:rPr lang="en-US" b="1" dirty="0">
                <a:solidFill>
                  <a:srgbClr val="1E1E1E"/>
                </a:solidFill>
              </a:rPr>
              <a:t>2.  Government &amp; Agricultural Departments</a:t>
            </a:r>
          </a:p>
          <a:p>
            <a:r>
              <a:rPr lang="en-US" sz="1600" dirty="0">
                <a:solidFill>
                  <a:srgbClr val="1E1E1E"/>
                </a:solidFill>
              </a:rPr>
              <a:t>     - Design season-specific subsidy and support programmers</a:t>
            </a:r>
          </a:p>
          <a:p>
            <a:r>
              <a:rPr lang="en-US" sz="1600" dirty="0">
                <a:solidFill>
                  <a:srgbClr val="1E1E1E"/>
                </a:solidFill>
              </a:rPr>
              <a:t>     - Allocate irrigation and water resources more effectively</a:t>
            </a:r>
            <a:endParaRPr lang="en-US" dirty="0">
              <a:solidFill>
                <a:srgbClr val="1E1E1E"/>
              </a:solidFill>
            </a:endParaRPr>
          </a:p>
          <a:p>
            <a:r>
              <a:rPr lang="en-US" b="1" dirty="0">
                <a:solidFill>
                  <a:srgbClr val="1E1E1E"/>
                </a:solidFill>
              </a:rPr>
              <a:t>3.  Agri-Finance Institutions &amp; Insurers</a:t>
            </a:r>
          </a:p>
          <a:p>
            <a:r>
              <a:rPr lang="en-US" sz="1600" dirty="0">
                <a:solidFill>
                  <a:srgbClr val="1E1E1E"/>
                </a:solidFill>
              </a:rPr>
              <a:t>     - Assess seasonal risk profiles for credit and insurance products</a:t>
            </a:r>
          </a:p>
          <a:p>
            <a:r>
              <a:rPr lang="en-US" sz="1600" dirty="0">
                <a:solidFill>
                  <a:srgbClr val="1E1E1E"/>
                </a:solidFill>
              </a:rPr>
              <a:t>     - Identify high-risk Zaid season farms for targeted support</a:t>
            </a:r>
            <a:endParaRPr lang="en-US" dirty="0">
              <a:solidFill>
                <a:srgbClr val="1E1E1E"/>
              </a:solidFill>
            </a:endParaRPr>
          </a:p>
          <a:p>
            <a:r>
              <a:rPr lang="en-US" b="1" dirty="0">
                <a:solidFill>
                  <a:srgbClr val="1E1E1E"/>
                </a:solidFill>
              </a:rPr>
              <a:t>4.  Agri-Tech Companies &amp; Input Suppliers</a:t>
            </a:r>
          </a:p>
          <a:p>
            <a:r>
              <a:rPr lang="en-US" dirty="0">
                <a:solidFill>
                  <a:srgbClr val="1E1E1E"/>
                </a:solidFill>
              </a:rPr>
              <a:t>     </a:t>
            </a:r>
            <a:r>
              <a:rPr lang="en-US" sz="1600" dirty="0">
                <a:solidFill>
                  <a:srgbClr val="1E1E1E"/>
                </a:solidFill>
              </a:rPr>
              <a:t>- Align seed, fertilizer and pesticide supply chains with seasonal demand</a:t>
            </a:r>
          </a:p>
          <a:p>
            <a:pPr marL="0" indent="0">
              <a:buNone/>
            </a:pPr>
            <a:r>
              <a:rPr lang="en-US" sz="1600" b="1" dirty="0">
                <a:solidFill>
                  <a:srgbClr val="1E1E1E"/>
                </a:solidFill>
              </a:rPr>
              <a:t>	</a:t>
            </a:r>
            <a:r>
              <a:rPr lang="en-US" b="1" dirty="0">
                <a:solidFill>
                  <a:srgbClr val="1E1E1E"/>
                </a:solidFill>
              </a:rPr>
              <a:t>5.  Researchers &amp; Policy Makers</a:t>
            </a:r>
          </a:p>
          <a:p>
            <a:r>
              <a:rPr lang="en-US" sz="1600" dirty="0">
                <a:solidFill>
                  <a:srgbClr val="1E1E1E"/>
                </a:solidFill>
              </a:rPr>
              <a:t>     - Use seasonal patterns to guide evidence-based agricultural planning</a:t>
            </a:r>
          </a:p>
          <a:p>
            <a:pPr algn="just">
              <a:lnSpc>
                <a:spcPct val="150000"/>
              </a:lnSpc>
            </a:pPr>
            <a:endParaRPr lang="en-IN"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727328"/>
            <a:ext cx="10046070" cy="802641"/>
          </a:xfrm>
        </p:spPr>
        <p:txBody>
          <a:bodyPr>
            <a:normAutofit/>
          </a:bodyPr>
          <a:lstStyle/>
          <a:p>
            <a:r>
              <a:rPr lang="en-US" sz="3200" dirty="0"/>
              <a:t>WHO ARE THE END USERS?</a:t>
            </a:r>
            <a:endParaRPr lang="en-IN" sz="2000" dirty="0"/>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fade">
                                      <p:cBhvr>
                                        <p:cTn id="42" dur="1000"/>
                                        <p:tgtEl>
                                          <p:spTgt spid="2">
                                            <p:txEl>
                                              <p:pRg st="5" end="5"/>
                                            </p:txEl>
                                          </p:spTgt>
                                        </p:tgtEl>
                                      </p:cBhvr>
                                    </p:animEffect>
                                    <p:anim calcmode="lin" valueType="num">
                                      <p:cBhvr>
                                        <p:cTn id="4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6" end="6"/>
                                            </p:txEl>
                                          </p:spTgt>
                                        </p:tgtEl>
                                        <p:attrNameLst>
                                          <p:attrName>style.visibility</p:attrName>
                                        </p:attrNameLst>
                                      </p:cBhvr>
                                      <p:to>
                                        <p:strVal val="visible"/>
                                      </p:to>
                                    </p:set>
                                    <p:animEffect transition="in" filter="fade">
                                      <p:cBhvr>
                                        <p:cTn id="49" dur="1000"/>
                                        <p:tgtEl>
                                          <p:spTgt spid="2">
                                            <p:txEl>
                                              <p:pRg st="6" end="6"/>
                                            </p:txEl>
                                          </p:spTgt>
                                        </p:tgtEl>
                                      </p:cBhvr>
                                    </p:animEffect>
                                    <p:anim calcmode="lin" valueType="num">
                                      <p:cBhvr>
                                        <p:cTn id="50"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7" end="7"/>
                                            </p:txEl>
                                          </p:spTgt>
                                        </p:tgtEl>
                                        <p:attrNameLst>
                                          <p:attrName>style.visibility</p:attrName>
                                        </p:attrNameLst>
                                      </p:cBhvr>
                                      <p:to>
                                        <p:strVal val="visible"/>
                                      </p:to>
                                    </p:set>
                                    <p:animEffect transition="in" filter="fade">
                                      <p:cBhvr>
                                        <p:cTn id="56" dur="1000"/>
                                        <p:tgtEl>
                                          <p:spTgt spid="2">
                                            <p:txEl>
                                              <p:pRg st="7" end="7"/>
                                            </p:txEl>
                                          </p:spTgt>
                                        </p:tgtEl>
                                      </p:cBhvr>
                                    </p:animEffect>
                                    <p:anim calcmode="lin" valueType="num">
                                      <p:cBhvr>
                                        <p:cTn id="57"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8" end="8"/>
                                            </p:txEl>
                                          </p:spTgt>
                                        </p:tgtEl>
                                        <p:attrNameLst>
                                          <p:attrName>style.visibility</p:attrName>
                                        </p:attrNameLst>
                                      </p:cBhvr>
                                      <p:to>
                                        <p:strVal val="visible"/>
                                      </p:to>
                                    </p:set>
                                    <p:animEffect transition="in" filter="fade">
                                      <p:cBhvr>
                                        <p:cTn id="63" dur="1000"/>
                                        <p:tgtEl>
                                          <p:spTgt spid="2">
                                            <p:txEl>
                                              <p:pRg st="8" end="8"/>
                                            </p:txEl>
                                          </p:spTgt>
                                        </p:tgtEl>
                                      </p:cBhvr>
                                    </p:animEffect>
                                    <p:anim calcmode="lin" valueType="num">
                                      <p:cBhvr>
                                        <p:cTn id="64"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9" end="9"/>
                                            </p:txEl>
                                          </p:spTgt>
                                        </p:tgtEl>
                                        <p:attrNameLst>
                                          <p:attrName>style.visibility</p:attrName>
                                        </p:attrNameLst>
                                      </p:cBhvr>
                                      <p:to>
                                        <p:strVal val="visible"/>
                                      </p:to>
                                    </p:set>
                                    <p:animEffect transition="in" filter="fade">
                                      <p:cBhvr>
                                        <p:cTn id="70" dur="1000"/>
                                        <p:tgtEl>
                                          <p:spTgt spid="2">
                                            <p:txEl>
                                              <p:pRg st="9" end="9"/>
                                            </p:txEl>
                                          </p:spTgt>
                                        </p:tgtEl>
                                      </p:cBhvr>
                                    </p:animEffect>
                                    <p:anim calcmode="lin" valueType="num">
                                      <p:cBhvr>
                                        <p:cTn id="71"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
                                            <p:txEl>
                                              <p:pRg st="10" end="10"/>
                                            </p:txEl>
                                          </p:spTgt>
                                        </p:tgtEl>
                                        <p:attrNameLst>
                                          <p:attrName>style.visibility</p:attrName>
                                        </p:attrNameLst>
                                      </p:cBhvr>
                                      <p:to>
                                        <p:strVal val="visible"/>
                                      </p:to>
                                    </p:set>
                                    <p:animEffect transition="in" filter="fade">
                                      <p:cBhvr>
                                        <p:cTn id="77" dur="1000"/>
                                        <p:tgtEl>
                                          <p:spTgt spid="2">
                                            <p:txEl>
                                              <p:pRg st="10" end="10"/>
                                            </p:txEl>
                                          </p:spTgt>
                                        </p:tgtEl>
                                      </p:cBhvr>
                                    </p:animEffect>
                                    <p:anim calcmode="lin" valueType="num">
                                      <p:cBhvr>
                                        <p:cTn id="78"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
                                            <p:txEl>
                                              <p:pRg st="11" end="11"/>
                                            </p:txEl>
                                          </p:spTgt>
                                        </p:tgtEl>
                                        <p:attrNameLst>
                                          <p:attrName>style.visibility</p:attrName>
                                        </p:attrNameLst>
                                      </p:cBhvr>
                                      <p:to>
                                        <p:strVal val="visible"/>
                                      </p:to>
                                    </p:set>
                                    <p:animEffect transition="in" filter="fade">
                                      <p:cBhvr>
                                        <p:cTn id="84" dur="1000"/>
                                        <p:tgtEl>
                                          <p:spTgt spid="2">
                                            <p:txEl>
                                              <p:pRg st="11" end="11"/>
                                            </p:txEl>
                                          </p:spTgt>
                                        </p:tgtEl>
                                      </p:cBhvr>
                                    </p:animEffect>
                                    <p:anim calcmode="lin" valueType="num">
                                      <p:cBhvr>
                                        <p:cTn id="85"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86"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
                                            <p:txEl>
                                              <p:pRg st="12" end="12"/>
                                            </p:txEl>
                                          </p:spTgt>
                                        </p:tgtEl>
                                        <p:attrNameLst>
                                          <p:attrName>style.visibility</p:attrName>
                                        </p:attrNameLst>
                                      </p:cBhvr>
                                      <p:to>
                                        <p:strVal val="visible"/>
                                      </p:to>
                                    </p:set>
                                    <p:animEffect transition="in" filter="fade">
                                      <p:cBhvr>
                                        <p:cTn id="91" dur="1000"/>
                                        <p:tgtEl>
                                          <p:spTgt spid="2">
                                            <p:txEl>
                                              <p:pRg st="12" end="12"/>
                                            </p:txEl>
                                          </p:spTgt>
                                        </p:tgtEl>
                                      </p:cBhvr>
                                    </p:animEffect>
                                    <p:anim calcmode="lin" valueType="num">
                                      <p:cBhvr>
                                        <p:cTn id="92" dur="1000" fill="hold"/>
                                        <p:tgtEl>
                                          <p:spTgt spid="2">
                                            <p:txEl>
                                              <p:pRg st="12" end="12"/>
                                            </p:txEl>
                                          </p:spTgt>
                                        </p:tgtEl>
                                        <p:attrNameLst>
                                          <p:attrName>ppt_x</p:attrName>
                                        </p:attrNameLst>
                                      </p:cBhvr>
                                      <p:tavLst>
                                        <p:tav tm="0">
                                          <p:val>
                                            <p:strVal val="#ppt_x"/>
                                          </p:val>
                                        </p:tav>
                                        <p:tav tm="100000">
                                          <p:val>
                                            <p:strVal val="#ppt_x"/>
                                          </p:val>
                                        </p:tav>
                                      </p:tavLst>
                                    </p:anim>
                                    <p:anim calcmode="lin" valueType="num">
                                      <p:cBhvr>
                                        <p:cTn id="93" dur="1000" fill="hold"/>
                                        <p:tgtEl>
                                          <p:spTgt spid="2">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2">
                                            <p:txEl>
                                              <p:pRg st="13" end="13"/>
                                            </p:txEl>
                                          </p:spTgt>
                                        </p:tgtEl>
                                        <p:attrNameLst>
                                          <p:attrName>style.visibility</p:attrName>
                                        </p:attrNameLst>
                                      </p:cBhvr>
                                      <p:to>
                                        <p:strVal val="visible"/>
                                      </p:to>
                                    </p:set>
                                    <p:animEffect transition="in" filter="fade">
                                      <p:cBhvr>
                                        <p:cTn id="98" dur="1000"/>
                                        <p:tgtEl>
                                          <p:spTgt spid="2">
                                            <p:txEl>
                                              <p:pRg st="13" end="13"/>
                                            </p:txEl>
                                          </p:spTgt>
                                        </p:tgtEl>
                                      </p:cBhvr>
                                    </p:animEffect>
                                    <p:anim calcmode="lin" valueType="num">
                                      <p:cBhvr>
                                        <p:cTn id="99" dur="1000" fill="hold"/>
                                        <p:tgtEl>
                                          <p:spTgt spid="2">
                                            <p:txEl>
                                              <p:pRg st="13" end="13"/>
                                            </p:txEl>
                                          </p:spTgt>
                                        </p:tgtEl>
                                        <p:attrNameLst>
                                          <p:attrName>ppt_x</p:attrName>
                                        </p:attrNameLst>
                                      </p:cBhvr>
                                      <p:tavLst>
                                        <p:tav tm="0">
                                          <p:val>
                                            <p:strVal val="#ppt_x"/>
                                          </p:val>
                                        </p:tav>
                                        <p:tav tm="100000">
                                          <p:val>
                                            <p:strVal val="#ppt_x"/>
                                          </p:val>
                                        </p:tav>
                                      </p:tavLst>
                                    </p:anim>
                                    <p:anim calcmode="lin" valueType="num">
                                      <p:cBhvr>
                                        <p:cTn id="100" dur="1000" fill="hold"/>
                                        <p:tgtEl>
                                          <p:spTgt spid="2">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508449" y="1278384"/>
            <a:ext cx="9870959" cy="5428169"/>
          </a:xfrm>
        </p:spPr>
        <p:txBody>
          <a:bodyPr>
            <a:noAutofit/>
          </a:bodyPr>
          <a:lstStyle/>
          <a:p>
            <a:pPr>
              <a:lnSpc>
                <a:spcPct val="100000"/>
              </a:lnSpc>
            </a:pPr>
            <a:r>
              <a:rPr lang="en-US" sz="1600" b="1" dirty="0">
                <a:solidFill>
                  <a:srgbClr val="1E1E1E"/>
                </a:solidFill>
              </a:rPr>
              <a:t>PROGRAMMING LANGUAGE</a:t>
            </a:r>
          </a:p>
          <a:p>
            <a:pPr>
              <a:lnSpc>
                <a:spcPct val="100000"/>
              </a:lnSpc>
            </a:pPr>
            <a:r>
              <a:rPr lang="en-US" sz="1600" dirty="0">
                <a:solidFill>
                  <a:srgbClr val="1E1E1E"/>
                </a:solidFill>
              </a:rPr>
              <a:t>  </a:t>
            </a:r>
            <a:r>
              <a:rPr lang="en-US" sz="1400" dirty="0">
                <a:solidFill>
                  <a:srgbClr val="1E1E1E"/>
                </a:solidFill>
              </a:rPr>
              <a:t>Python 3.10+</a:t>
            </a:r>
          </a:p>
          <a:p>
            <a:pPr>
              <a:lnSpc>
                <a:spcPct val="100000"/>
              </a:lnSpc>
            </a:pPr>
            <a:r>
              <a:rPr lang="en-US" sz="1600" b="1" dirty="0">
                <a:solidFill>
                  <a:srgbClr val="1E1E1E"/>
                </a:solidFill>
              </a:rPr>
              <a:t>DATA MANIPULATION</a:t>
            </a:r>
          </a:p>
          <a:p>
            <a:pPr>
              <a:lnSpc>
                <a:spcPct val="100000"/>
              </a:lnSpc>
            </a:pPr>
            <a:r>
              <a:rPr lang="en-US" sz="1600" dirty="0">
                <a:solidFill>
                  <a:srgbClr val="1E1E1E"/>
                </a:solidFill>
              </a:rPr>
              <a:t>  </a:t>
            </a:r>
            <a:r>
              <a:rPr lang="en-US" sz="1400" dirty="0">
                <a:solidFill>
                  <a:srgbClr val="1E1E1E"/>
                </a:solidFill>
              </a:rPr>
              <a:t>pandas 2.x      -- Data loading, cleaning, </a:t>
            </a:r>
            <a:r>
              <a:rPr lang="en-US" sz="1400" dirty="0" err="1">
                <a:solidFill>
                  <a:srgbClr val="1E1E1E"/>
                </a:solidFill>
              </a:rPr>
              <a:t>groupby</a:t>
            </a:r>
            <a:r>
              <a:rPr lang="en-US" sz="1400" dirty="0">
                <a:solidFill>
                  <a:srgbClr val="1E1E1E"/>
                </a:solidFill>
              </a:rPr>
              <a:t> aggregations</a:t>
            </a:r>
          </a:p>
          <a:p>
            <a:pPr>
              <a:lnSpc>
                <a:spcPct val="100000"/>
              </a:lnSpc>
            </a:pPr>
            <a:r>
              <a:rPr lang="en-US" sz="1400" dirty="0">
                <a:solidFill>
                  <a:srgbClr val="1E1E1E"/>
                </a:solidFill>
              </a:rPr>
              <a:t>  </a:t>
            </a:r>
            <a:r>
              <a:rPr lang="en-US" sz="1400" dirty="0" err="1">
                <a:solidFill>
                  <a:srgbClr val="1E1E1E"/>
                </a:solidFill>
              </a:rPr>
              <a:t>numpy</a:t>
            </a:r>
            <a:r>
              <a:rPr lang="en-US" sz="1400" dirty="0">
                <a:solidFill>
                  <a:srgbClr val="1E1E1E"/>
                </a:solidFill>
              </a:rPr>
              <a:t>           -- Numerical operations, Z-score calculations</a:t>
            </a:r>
          </a:p>
          <a:p>
            <a:pPr>
              <a:lnSpc>
                <a:spcPct val="100000"/>
              </a:lnSpc>
            </a:pPr>
            <a:r>
              <a:rPr lang="en-US" sz="1600" b="1" dirty="0">
                <a:solidFill>
                  <a:srgbClr val="1E1E1E"/>
                </a:solidFill>
              </a:rPr>
              <a:t>DATA VISUALISATION</a:t>
            </a:r>
          </a:p>
          <a:p>
            <a:pPr>
              <a:lnSpc>
                <a:spcPct val="100000"/>
              </a:lnSpc>
            </a:pPr>
            <a:r>
              <a:rPr lang="en-US" sz="1400" dirty="0">
                <a:solidFill>
                  <a:srgbClr val="1E1E1E"/>
                </a:solidFill>
              </a:rPr>
              <a:t>  matplotlib      -- Histograms, bar charts, scatter plots, dashboards</a:t>
            </a:r>
          </a:p>
          <a:p>
            <a:pPr>
              <a:lnSpc>
                <a:spcPct val="100000"/>
              </a:lnSpc>
            </a:pPr>
            <a:r>
              <a:rPr lang="en-US" sz="1400" dirty="0">
                <a:solidFill>
                  <a:srgbClr val="1E1E1E"/>
                </a:solidFill>
              </a:rPr>
              <a:t>  seaborn         -- Box plots, violin plots, heatmaps, KDE overlays</a:t>
            </a:r>
          </a:p>
          <a:p>
            <a:pPr marL="216000">
              <a:lnSpc>
                <a:spcPct val="100000"/>
              </a:lnSpc>
            </a:pPr>
            <a:r>
              <a:rPr lang="en-US" sz="1600" b="1" dirty="0">
                <a:solidFill>
                  <a:srgbClr val="1E1E1E"/>
                </a:solidFill>
              </a:rPr>
              <a:t>STATISTICAL ANALYSIS</a:t>
            </a:r>
          </a:p>
          <a:p>
            <a:pPr marL="216000">
              <a:lnSpc>
                <a:spcPct val="100000"/>
              </a:lnSpc>
            </a:pPr>
            <a:r>
              <a:rPr lang="en-US" sz="1400" dirty="0">
                <a:solidFill>
                  <a:srgbClr val="1E1E1E"/>
                </a:solidFill>
              </a:rPr>
              <a:t>  </a:t>
            </a:r>
            <a:r>
              <a:rPr lang="en-US" sz="1400" dirty="0" err="1">
                <a:solidFill>
                  <a:srgbClr val="1E1E1E"/>
                </a:solidFill>
              </a:rPr>
              <a:t>scipy.stats</a:t>
            </a:r>
            <a:r>
              <a:rPr lang="en-US" sz="1400" dirty="0">
                <a:solidFill>
                  <a:srgbClr val="1E1E1E"/>
                </a:solidFill>
              </a:rPr>
              <a:t>     -- Kruskal-Wallis, Mann-Whitney U, Chi-square, Pearson r</a:t>
            </a:r>
          </a:p>
          <a:p>
            <a:pPr>
              <a:lnSpc>
                <a:spcPct val="100000"/>
              </a:lnSpc>
            </a:pPr>
            <a:r>
              <a:rPr lang="en-US" sz="1600" b="1" dirty="0">
                <a:solidFill>
                  <a:srgbClr val="1E1E1E"/>
                </a:solidFill>
              </a:rPr>
              <a:t>DEVELOPMENT ENVIRONMENT</a:t>
            </a:r>
          </a:p>
          <a:p>
            <a:pPr>
              <a:lnSpc>
                <a:spcPct val="100000"/>
              </a:lnSpc>
            </a:pPr>
            <a:r>
              <a:rPr lang="en-US" sz="1600" dirty="0">
                <a:solidFill>
                  <a:srgbClr val="1E1E1E"/>
                </a:solidFill>
              </a:rPr>
              <a:t>  </a:t>
            </a:r>
            <a:r>
              <a:rPr lang="en-US" sz="1400" dirty="0">
                <a:solidFill>
                  <a:srgbClr val="1E1E1E"/>
                </a:solidFill>
              </a:rPr>
              <a:t>Jupyter Notebook -- Interactive analysis, inline </a:t>
            </a:r>
            <a:r>
              <a:rPr lang="en-US" sz="1400" dirty="0" err="1">
                <a:solidFill>
                  <a:srgbClr val="1E1E1E"/>
                </a:solidFill>
              </a:rPr>
              <a:t>visualisations</a:t>
            </a:r>
            <a:endParaRPr lang="en-US" sz="1400" dirty="0">
              <a:solidFill>
                <a:srgbClr val="1E1E1E"/>
              </a:solidFill>
            </a:endParaRPr>
          </a:p>
          <a:p>
            <a:pPr>
              <a:lnSpc>
                <a:spcPct val="100000"/>
              </a:lnSpc>
            </a:pPr>
            <a:r>
              <a:rPr lang="en-US" sz="1600" b="1" dirty="0">
                <a:solidFill>
                  <a:srgbClr val="1E1E1E"/>
                </a:solidFill>
              </a:rPr>
              <a:t>DATA FORMAT</a:t>
            </a:r>
          </a:p>
          <a:p>
            <a:pPr>
              <a:lnSpc>
                <a:spcPct val="100000"/>
              </a:lnSpc>
            </a:pPr>
            <a:r>
              <a:rPr lang="en-US" sz="1600" dirty="0">
                <a:solidFill>
                  <a:srgbClr val="1E1E1E"/>
                </a:solidFill>
              </a:rPr>
              <a:t>  </a:t>
            </a:r>
            <a:r>
              <a:rPr lang="en-US" sz="1400" dirty="0">
                <a:solidFill>
                  <a:srgbClr val="1E1E1E"/>
                </a:solidFill>
              </a:rPr>
              <a:t>CSV (4,000 rows x 28 columns)</a:t>
            </a:r>
          </a:p>
          <a:p>
            <a:pPr>
              <a:lnSpc>
                <a:spcPct val="100000"/>
              </a:lnSpc>
            </a:pPr>
            <a:r>
              <a:rPr lang="en-US" sz="1400" dirty="0">
                <a:solidFill>
                  <a:srgbClr val="1E1E1E"/>
                </a:solidFill>
              </a:rPr>
              <a:t>  seasonal_agriculture_performance_dataset.csv</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7">
                                            <p:txEl>
                                              <p:pRg st="9" end="9"/>
                                            </p:txEl>
                                          </p:spTgt>
                                        </p:tgtEl>
                                        <p:attrNameLst>
                                          <p:attrName>style.visibility</p:attrName>
                                        </p:attrNameLst>
                                      </p:cBhvr>
                                      <p:to>
                                        <p:strVal val="visible"/>
                                      </p:to>
                                    </p:set>
                                    <p:animEffect transition="in" filter="fade">
                                      <p:cBhvr>
                                        <p:cTn id="77" dur="1000"/>
                                        <p:tgtEl>
                                          <p:spTgt spid="7">
                                            <p:txEl>
                                              <p:pRg st="9" end="9"/>
                                            </p:txEl>
                                          </p:spTgt>
                                        </p:tgtEl>
                                      </p:cBhvr>
                                    </p:animEffect>
                                    <p:anim calcmode="lin" valueType="num">
                                      <p:cBhvr>
                                        <p:cTn id="78"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7">
                                            <p:txEl>
                                              <p:pRg st="10" end="10"/>
                                            </p:txEl>
                                          </p:spTgt>
                                        </p:tgtEl>
                                        <p:attrNameLst>
                                          <p:attrName>style.visibility</p:attrName>
                                        </p:attrNameLst>
                                      </p:cBhvr>
                                      <p:to>
                                        <p:strVal val="visible"/>
                                      </p:to>
                                    </p:set>
                                    <p:animEffect transition="in" filter="fade">
                                      <p:cBhvr>
                                        <p:cTn id="84" dur="1000"/>
                                        <p:tgtEl>
                                          <p:spTgt spid="7">
                                            <p:txEl>
                                              <p:pRg st="10" end="10"/>
                                            </p:txEl>
                                          </p:spTgt>
                                        </p:tgtEl>
                                      </p:cBhvr>
                                    </p:animEffect>
                                    <p:anim calcmode="lin" valueType="num">
                                      <p:cBhvr>
                                        <p:cTn id="8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7">
                                            <p:txEl>
                                              <p:pRg st="11" end="11"/>
                                            </p:txEl>
                                          </p:spTgt>
                                        </p:tgtEl>
                                        <p:attrNameLst>
                                          <p:attrName>style.visibility</p:attrName>
                                        </p:attrNameLst>
                                      </p:cBhvr>
                                      <p:to>
                                        <p:strVal val="visible"/>
                                      </p:to>
                                    </p:set>
                                    <p:animEffect transition="in" filter="fade">
                                      <p:cBhvr>
                                        <p:cTn id="91" dur="1000"/>
                                        <p:tgtEl>
                                          <p:spTgt spid="7">
                                            <p:txEl>
                                              <p:pRg st="11" end="11"/>
                                            </p:txEl>
                                          </p:spTgt>
                                        </p:tgtEl>
                                      </p:cBhvr>
                                    </p:animEffect>
                                    <p:anim calcmode="lin" valueType="num">
                                      <p:cBhvr>
                                        <p:cTn id="92"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7">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7">
                                            <p:txEl>
                                              <p:pRg st="12" end="12"/>
                                            </p:txEl>
                                          </p:spTgt>
                                        </p:tgtEl>
                                        <p:attrNameLst>
                                          <p:attrName>style.visibility</p:attrName>
                                        </p:attrNameLst>
                                      </p:cBhvr>
                                      <p:to>
                                        <p:strVal val="visible"/>
                                      </p:to>
                                    </p:set>
                                    <p:animEffect transition="in" filter="fade">
                                      <p:cBhvr>
                                        <p:cTn id="98" dur="1000"/>
                                        <p:tgtEl>
                                          <p:spTgt spid="7">
                                            <p:txEl>
                                              <p:pRg st="12" end="12"/>
                                            </p:txEl>
                                          </p:spTgt>
                                        </p:tgtEl>
                                      </p:cBhvr>
                                    </p:animEffect>
                                    <p:anim calcmode="lin" valueType="num">
                                      <p:cBhvr>
                                        <p:cTn id="99"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100" dur="1000" fill="hold"/>
                                        <p:tgtEl>
                                          <p:spTgt spid="7">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7">
                                            <p:txEl>
                                              <p:pRg st="13" end="13"/>
                                            </p:txEl>
                                          </p:spTgt>
                                        </p:tgtEl>
                                        <p:attrNameLst>
                                          <p:attrName>style.visibility</p:attrName>
                                        </p:attrNameLst>
                                      </p:cBhvr>
                                      <p:to>
                                        <p:strVal val="visible"/>
                                      </p:to>
                                    </p:set>
                                    <p:animEffect transition="in" filter="fade">
                                      <p:cBhvr>
                                        <p:cTn id="105" dur="1000"/>
                                        <p:tgtEl>
                                          <p:spTgt spid="7">
                                            <p:txEl>
                                              <p:pRg st="13" end="13"/>
                                            </p:txEl>
                                          </p:spTgt>
                                        </p:tgtEl>
                                      </p:cBhvr>
                                    </p:animEffect>
                                    <p:anim calcmode="lin" valueType="num">
                                      <p:cBhvr>
                                        <p:cTn id="106" dur="1000" fill="hold"/>
                                        <p:tgtEl>
                                          <p:spTgt spid="7">
                                            <p:txEl>
                                              <p:pRg st="13" end="13"/>
                                            </p:txEl>
                                          </p:spTgt>
                                        </p:tgtEl>
                                        <p:attrNameLst>
                                          <p:attrName>ppt_x</p:attrName>
                                        </p:attrNameLst>
                                      </p:cBhvr>
                                      <p:tavLst>
                                        <p:tav tm="0">
                                          <p:val>
                                            <p:strVal val="#ppt_x"/>
                                          </p:val>
                                        </p:tav>
                                        <p:tav tm="100000">
                                          <p:val>
                                            <p:strVal val="#ppt_x"/>
                                          </p:val>
                                        </p:tav>
                                      </p:tavLst>
                                    </p:anim>
                                    <p:anim calcmode="lin" valueType="num">
                                      <p:cBhvr>
                                        <p:cTn id="107" dur="1000" fill="hold"/>
                                        <p:tgtEl>
                                          <p:spTgt spid="7">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7">
                                            <p:txEl>
                                              <p:pRg st="14" end="14"/>
                                            </p:txEl>
                                          </p:spTgt>
                                        </p:tgtEl>
                                        <p:attrNameLst>
                                          <p:attrName>style.visibility</p:attrName>
                                        </p:attrNameLst>
                                      </p:cBhvr>
                                      <p:to>
                                        <p:strVal val="visible"/>
                                      </p:to>
                                    </p:set>
                                    <p:animEffect transition="in" filter="fade">
                                      <p:cBhvr>
                                        <p:cTn id="112" dur="1000"/>
                                        <p:tgtEl>
                                          <p:spTgt spid="7">
                                            <p:txEl>
                                              <p:pRg st="14" end="14"/>
                                            </p:txEl>
                                          </p:spTgt>
                                        </p:tgtEl>
                                      </p:cBhvr>
                                    </p:animEffect>
                                    <p:anim calcmode="lin" valueType="num">
                                      <p:cBhvr>
                                        <p:cTn id="113" dur="1000" fill="hold"/>
                                        <p:tgtEl>
                                          <p:spTgt spid="7">
                                            <p:txEl>
                                              <p:pRg st="14" end="14"/>
                                            </p:txEl>
                                          </p:spTgt>
                                        </p:tgtEl>
                                        <p:attrNameLst>
                                          <p:attrName>ppt_x</p:attrName>
                                        </p:attrNameLst>
                                      </p:cBhvr>
                                      <p:tavLst>
                                        <p:tav tm="0">
                                          <p:val>
                                            <p:strVal val="#ppt_x"/>
                                          </p:val>
                                        </p:tav>
                                        <p:tav tm="100000">
                                          <p:val>
                                            <p:strVal val="#ppt_x"/>
                                          </p:val>
                                        </p:tav>
                                      </p:tavLst>
                                    </p:anim>
                                    <p:anim calcmode="lin" valueType="num">
                                      <p:cBhvr>
                                        <p:cTn id="114" dur="1000" fill="hold"/>
                                        <p:tgtEl>
                                          <p:spTgt spid="7">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EFEA31FC-F4AA-A7B4-F278-EDF30531240C}"/>
              </a:ext>
            </a:extLst>
          </p:cNvPr>
          <p:cNvPicPr>
            <a:picLocks noChangeAspect="1"/>
          </p:cNvPicPr>
          <p:nvPr/>
        </p:nvPicPr>
        <p:blipFill>
          <a:blip r:embed="rId2"/>
          <a:stretch>
            <a:fillRect/>
          </a:stretch>
        </p:blipFill>
        <p:spPr>
          <a:xfrm>
            <a:off x="675957" y="1201586"/>
            <a:ext cx="10016287" cy="5270334"/>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descr="chart1_seasonal_kpis.png">
            <a:extLst>
              <a:ext uri="{FF2B5EF4-FFF2-40B4-BE49-F238E27FC236}">
                <a16:creationId xmlns:a16="http://schemas.microsoft.com/office/drawing/2014/main" id="{23315436-BFBC-8DAB-62AC-895113D8C584}"/>
              </a:ext>
            </a:extLst>
          </p:cNvPr>
          <p:cNvPicPr>
            <a:picLocks noChangeAspect="1"/>
          </p:cNvPicPr>
          <p:nvPr/>
        </p:nvPicPr>
        <p:blipFill>
          <a:blip r:embed="rId3"/>
          <a:stretch>
            <a:fillRect/>
          </a:stretch>
        </p:blipFill>
        <p:spPr>
          <a:xfrm>
            <a:off x="274320" y="1234440"/>
            <a:ext cx="11612880" cy="493776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pic>
        <p:nvPicPr>
          <p:cNvPr id="6" name="Picture 5" descr="chart2_yield_profit_box.png">
            <a:extLst>
              <a:ext uri="{FF2B5EF4-FFF2-40B4-BE49-F238E27FC236}">
                <a16:creationId xmlns:a16="http://schemas.microsoft.com/office/drawing/2014/main" id="{85529A39-5BC9-C89D-F0F1-132E8536D87B}"/>
              </a:ext>
            </a:extLst>
          </p:cNvPr>
          <p:cNvPicPr>
            <a:picLocks noChangeAspect="1"/>
          </p:cNvPicPr>
          <p:nvPr/>
        </p:nvPicPr>
        <p:blipFill>
          <a:blip r:embed="rId3"/>
          <a:stretch>
            <a:fillRect/>
          </a:stretch>
        </p:blipFill>
        <p:spPr>
          <a:xfrm>
            <a:off x="274320" y="1234440"/>
            <a:ext cx="11612880" cy="493776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53731C8-1433-F276-E4F9-3D598272BA9E}"/>
              </a:ext>
            </a:extLst>
          </p:cNvPr>
          <p:cNvPicPr>
            <a:picLocks noChangeAspect="1"/>
          </p:cNvPicPr>
          <p:nvPr/>
        </p:nvPicPr>
        <p:blipFill>
          <a:blip r:embed="rId2"/>
          <a:stretch>
            <a:fillRect/>
          </a:stretch>
        </p:blipFill>
        <p:spPr>
          <a:xfrm>
            <a:off x="987136" y="1201585"/>
            <a:ext cx="8643039" cy="5147259"/>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2551C-BF10-032A-1991-A0203862BD0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8D236DC-0FC5-0F22-EE6F-29AD0023B33E}"/>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BCA6AE7-155B-C29F-1C7F-FCF5A77FDE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923FAC6-E22A-8A37-E1CB-B9620B67D051}"/>
              </a:ext>
            </a:extLst>
          </p:cNvPr>
          <p:cNvSpPr>
            <a:spLocks noGrp="1"/>
          </p:cNvSpPr>
          <p:nvPr>
            <p:ph type="body" sz="quarter" idx="12"/>
          </p:nvPr>
        </p:nvSpPr>
        <p:spPr>
          <a:xfrm>
            <a:off x="786382" y="1463929"/>
            <a:ext cx="4275138" cy="477520"/>
          </a:xfrm>
        </p:spPr>
        <p:txBody>
          <a:bodyPr/>
          <a:lstStyle/>
          <a:p>
            <a:pPr marL="0" indent="0">
              <a:buNone/>
            </a:pPr>
            <a:r>
              <a:rPr lang="en-US" dirty="0"/>
              <a:t> </a:t>
            </a:r>
            <a:endParaRPr lang="en-IN" dirty="0"/>
          </a:p>
        </p:txBody>
      </p:sp>
      <p:pic>
        <p:nvPicPr>
          <p:cNvPr id="6" name="Picture 5" descr="chart3_environment.png">
            <a:extLst>
              <a:ext uri="{FF2B5EF4-FFF2-40B4-BE49-F238E27FC236}">
                <a16:creationId xmlns:a16="http://schemas.microsoft.com/office/drawing/2014/main" id="{153BEE3C-79FC-C47C-9611-E8913D4288C1}"/>
              </a:ext>
            </a:extLst>
          </p:cNvPr>
          <p:cNvPicPr>
            <a:picLocks noChangeAspect="1"/>
          </p:cNvPicPr>
          <p:nvPr/>
        </p:nvPicPr>
        <p:blipFill>
          <a:blip r:embed="rId2"/>
          <a:stretch>
            <a:fillRect/>
          </a:stretch>
        </p:blipFill>
        <p:spPr>
          <a:xfrm>
            <a:off x="274320" y="1234440"/>
            <a:ext cx="11612880" cy="4937760"/>
          </a:xfrm>
          <a:prstGeom prst="rect">
            <a:avLst/>
          </a:prstGeom>
        </p:spPr>
      </p:pic>
    </p:spTree>
    <p:extLst>
      <p:ext uri="{BB962C8B-B14F-4D97-AF65-F5344CB8AC3E}">
        <p14:creationId xmlns:p14="http://schemas.microsoft.com/office/powerpoint/2010/main" val="731015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396EE-9AB4-82A5-3C2E-AC6A8E3E67E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3FD415C-5C96-2539-6045-EBD3C3D2753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D7750BA-F47B-2657-8776-2A960D76A2A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DFFC558-C2BD-C3BD-8859-6A092758A53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B386ADF-7988-5588-1870-2C9C91225726}"/>
              </a:ext>
            </a:extLst>
          </p:cNvPr>
          <p:cNvPicPr>
            <a:picLocks noChangeAspect="1"/>
          </p:cNvPicPr>
          <p:nvPr/>
        </p:nvPicPr>
        <p:blipFill>
          <a:blip r:embed="rId2"/>
          <a:stretch>
            <a:fillRect/>
          </a:stretch>
        </p:blipFill>
        <p:spPr>
          <a:xfrm>
            <a:off x="1018857" y="1090147"/>
            <a:ext cx="9619027" cy="5289871"/>
          </a:xfrm>
          <a:prstGeom prst="rect">
            <a:avLst/>
          </a:prstGeom>
        </p:spPr>
      </p:pic>
    </p:spTree>
    <p:extLst>
      <p:ext uri="{BB962C8B-B14F-4D97-AF65-F5344CB8AC3E}">
        <p14:creationId xmlns:p14="http://schemas.microsoft.com/office/powerpoint/2010/main" val="184086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87897449-B3A7-0FE4-7D7D-B7E10AE57BCD}"/>
              </a:ext>
            </a:extLst>
          </p:cNvPr>
          <p:cNvPicPr>
            <a:picLocks noChangeAspect="1"/>
          </p:cNvPicPr>
          <p:nvPr/>
        </p:nvPicPr>
        <p:blipFill>
          <a:blip r:embed="rId3"/>
          <a:stretch>
            <a:fillRect/>
          </a:stretch>
        </p:blipFill>
        <p:spPr>
          <a:xfrm>
            <a:off x="289056" y="959906"/>
            <a:ext cx="11613887" cy="4938188"/>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ED3A7-793F-CC80-22D6-BAC3B1D97CF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6C93C15-D983-0090-0D3B-568F38DCB5A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FEF359B-A4D8-4D55-2CD4-D4634332DE4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95A3A92-F96E-FA2D-86DE-352CA16352F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DDE8C86-E789-5A06-1CC1-4FE7C727E9A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5B7D8626-7492-4685-8122-BF4AFBAB0FF1}"/>
              </a:ext>
            </a:extLst>
          </p:cNvPr>
          <p:cNvPicPr>
            <a:picLocks noChangeAspect="1"/>
          </p:cNvPicPr>
          <p:nvPr/>
        </p:nvPicPr>
        <p:blipFill>
          <a:blip r:embed="rId3"/>
          <a:stretch>
            <a:fillRect/>
          </a:stretch>
        </p:blipFill>
        <p:spPr>
          <a:xfrm>
            <a:off x="320982" y="1424485"/>
            <a:ext cx="5383627" cy="3391193"/>
          </a:xfrm>
          <a:prstGeom prst="rect">
            <a:avLst/>
          </a:prstGeom>
        </p:spPr>
      </p:pic>
      <p:pic>
        <p:nvPicPr>
          <p:cNvPr id="10" name="Picture 9">
            <a:extLst>
              <a:ext uri="{FF2B5EF4-FFF2-40B4-BE49-F238E27FC236}">
                <a16:creationId xmlns:a16="http://schemas.microsoft.com/office/drawing/2014/main" id="{F6A39155-3BB1-DAC7-E9E1-089CF30BFD9E}"/>
              </a:ext>
            </a:extLst>
          </p:cNvPr>
          <p:cNvPicPr>
            <a:picLocks noChangeAspect="1"/>
          </p:cNvPicPr>
          <p:nvPr/>
        </p:nvPicPr>
        <p:blipFill>
          <a:blip r:embed="rId4"/>
          <a:stretch>
            <a:fillRect/>
          </a:stretch>
        </p:blipFill>
        <p:spPr>
          <a:xfrm>
            <a:off x="5874639" y="1424486"/>
            <a:ext cx="4991533" cy="3391194"/>
          </a:xfrm>
          <a:prstGeom prst="rect">
            <a:avLst/>
          </a:prstGeom>
        </p:spPr>
      </p:pic>
    </p:spTree>
    <p:extLst>
      <p:ext uri="{BB962C8B-B14F-4D97-AF65-F5344CB8AC3E}">
        <p14:creationId xmlns:p14="http://schemas.microsoft.com/office/powerpoint/2010/main" val="1173241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C46CA-1299-EAF4-A5F5-C3051FA198C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7174EEF-2A04-9DC4-75F4-A8173BCAE1F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0CBF4F7-528F-19CE-0C8A-7627FDE3C1C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FAAD6D0-DBB7-B583-0CC6-7BC93CD8487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descr="chart5_resources_econ.png">
            <a:extLst>
              <a:ext uri="{FF2B5EF4-FFF2-40B4-BE49-F238E27FC236}">
                <a16:creationId xmlns:a16="http://schemas.microsoft.com/office/drawing/2014/main" id="{13833CBD-A490-56D8-3E63-AB63D4282EF3}"/>
              </a:ext>
            </a:extLst>
          </p:cNvPr>
          <p:cNvPicPr>
            <a:picLocks noChangeAspect="1"/>
          </p:cNvPicPr>
          <p:nvPr/>
        </p:nvPicPr>
        <p:blipFill>
          <a:blip r:embed="rId2"/>
          <a:stretch>
            <a:fillRect/>
          </a:stretch>
        </p:blipFill>
        <p:spPr>
          <a:xfrm>
            <a:off x="274319" y="1234440"/>
            <a:ext cx="11207635" cy="4937760"/>
          </a:xfrm>
          <a:prstGeom prst="rect">
            <a:avLst/>
          </a:prstGeom>
        </p:spPr>
      </p:pic>
    </p:spTree>
    <p:extLst>
      <p:ext uri="{BB962C8B-B14F-4D97-AF65-F5344CB8AC3E}">
        <p14:creationId xmlns:p14="http://schemas.microsoft.com/office/powerpoint/2010/main" val="2673238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9431515C-68AD-2D24-5ED6-925FCFD93125}"/>
              </a:ext>
            </a:extLst>
          </p:cNvPr>
          <p:cNvSpPr txBox="1"/>
          <p:nvPr/>
        </p:nvSpPr>
        <p:spPr>
          <a:xfrm>
            <a:off x="840276" y="1078224"/>
            <a:ext cx="10511447" cy="4985980"/>
          </a:xfrm>
          <a:prstGeom prst="rect">
            <a:avLst/>
          </a:prstGeom>
          <a:noFill/>
        </p:spPr>
        <p:txBody>
          <a:bodyPr wrap="square" rtlCol="0">
            <a:spAutoFit/>
          </a:bodyPr>
          <a:lstStyle/>
          <a:p>
            <a:r>
              <a:rPr lang="en-US" b="1" dirty="0">
                <a:solidFill>
                  <a:srgbClr val="1E1E1E"/>
                </a:solidFill>
              </a:rPr>
              <a:t>1.  Machine Learning Models</a:t>
            </a:r>
          </a:p>
          <a:p>
            <a:r>
              <a:rPr lang="en-US" dirty="0">
                <a:solidFill>
                  <a:srgbClr val="1E1E1E"/>
                </a:solidFill>
              </a:rPr>
              <a:t>     </a:t>
            </a:r>
            <a:r>
              <a:rPr lang="en-US" sz="1600" dirty="0">
                <a:solidFill>
                  <a:srgbClr val="1E1E1E"/>
                </a:solidFill>
              </a:rPr>
              <a:t>- Build predictive models (Random Forest, </a:t>
            </a:r>
            <a:r>
              <a:rPr lang="en-US" sz="1600" dirty="0" err="1">
                <a:solidFill>
                  <a:srgbClr val="1E1E1E"/>
                </a:solidFill>
              </a:rPr>
              <a:t>XGBoost</a:t>
            </a:r>
            <a:r>
              <a:rPr lang="en-US" sz="1600" dirty="0">
                <a:solidFill>
                  <a:srgbClr val="1E1E1E"/>
                </a:solidFill>
              </a:rPr>
              <a:t>) to forecast crop yield and profit based </a:t>
            </a:r>
          </a:p>
          <a:p>
            <a:r>
              <a:rPr lang="en-US" sz="1600" dirty="0">
                <a:solidFill>
                  <a:srgbClr val="1E1E1E"/>
                </a:solidFill>
              </a:rPr>
              <a:t>        on seasonal inputs.</a:t>
            </a:r>
            <a:endParaRPr lang="en-US" dirty="0">
              <a:solidFill>
                <a:srgbClr val="1E1E1E"/>
              </a:solidFill>
            </a:endParaRPr>
          </a:p>
          <a:p>
            <a:r>
              <a:rPr lang="en-US" b="1" dirty="0">
                <a:solidFill>
                  <a:srgbClr val="1E1E1E"/>
                </a:solidFill>
              </a:rPr>
              <a:t>2.  Real-time Data Integration</a:t>
            </a:r>
          </a:p>
          <a:p>
            <a:r>
              <a:rPr lang="en-US" dirty="0">
                <a:solidFill>
                  <a:srgbClr val="1E1E1E"/>
                </a:solidFill>
              </a:rPr>
              <a:t>     </a:t>
            </a:r>
            <a:r>
              <a:rPr lang="en-US" sz="1600" dirty="0">
                <a:solidFill>
                  <a:srgbClr val="1E1E1E"/>
                </a:solidFill>
              </a:rPr>
              <a:t>- Connect with live weather APIs and satellite imagery for dynamic seasonal monitoring and </a:t>
            </a:r>
          </a:p>
          <a:p>
            <a:r>
              <a:rPr lang="en-US" sz="1600" dirty="0">
                <a:solidFill>
                  <a:srgbClr val="1E1E1E"/>
                </a:solidFill>
              </a:rPr>
              <a:t>	early warning systems.</a:t>
            </a:r>
          </a:p>
          <a:p>
            <a:r>
              <a:rPr lang="en-US" b="1" dirty="0">
                <a:solidFill>
                  <a:srgbClr val="1E1E1E"/>
                </a:solidFill>
              </a:rPr>
              <a:t>3.  Deep Seasonal Granularity</a:t>
            </a:r>
          </a:p>
          <a:p>
            <a:r>
              <a:rPr lang="en-US" dirty="0">
                <a:solidFill>
                  <a:srgbClr val="1E1E1E"/>
                </a:solidFill>
              </a:rPr>
              <a:t>     - </a:t>
            </a:r>
            <a:r>
              <a:rPr lang="en-US" sz="1600" dirty="0">
                <a:solidFill>
                  <a:srgbClr val="1E1E1E"/>
                </a:solidFill>
              </a:rPr>
              <a:t>Expand analysis to monthly or weekly intervals to capture micro-seasonal patterns within</a:t>
            </a:r>
          </a:p>
          <a:p>
            <a:r>
              <a:rPr lang="en-US" sz="1600" dirty="0">
                <a:solidFill>
                  <a:srgbClr val="1E1E1E"/>
                </a:solidFill>
              </a:rPr>
              <a:t>	 Kharif, Rabi and Zaid.</a:t>
            </a:r>
          </a:p>
          <a:p>
            <a:r>
              <a:rPr lang="en-US" b="1" dirty="0">
                <a:solidFill>
                  <a:srgbClr val="1E1E1E"/>
                </a:solidFill>
              </a:rPr>
              <a:t>4.  Geo-spatial Analysis</a:t>
            </a:r>
          </a:p>
          <a:p>
            <a:r>
              <a:rPr lang="en-US" sz="1600" dirty="0">
                <a:solidFill>
                  <a:srgbClr val="1E1E1E"/>
                </a:solidFill>
              </a:rPr>
              <a:t>     - Add district-level maps to visualize yield and profit hotspots across all 8 states</a:t>
            </a:r>
          </a:p>
          <a:p>
            <a:r>
              <a:rPr lang="en-US" b="1" dirty="0">
                <a:solidFill>
                  <a:srgbClr val="1E1E1E"/>
                </a:solidFill>
              </a:rPr>
              <a:t>5.  Interactive Dashboard</a:t>
            </a:r>
          </a:p>
          <a:p>
            <a:r>
              <a:rPr lang="en-US" dirty="0">
                <a:solidFill>
                  <a:srgbClr val="1E1E1E"/>
                </a:solidFill>
              </a:rPr>
              <a:t>     </a:t>
            </a:r>
            <a:r>
              <a:rPr lang="en-US" sz="1600" dirty="0">
                <a:solidFill>
                  <a:srgbClr val="1E1E1E"/>
                </a:solidFill>
              </a:rPr>
              <a:t>- Develop a Power BI / </a:t>
            </a:r>
            <a:r>
              <a:rPr lang="en-US" sz="1600" dirty="0" err="1">
                <a:solidFill>
                  <a:srgbClr val="1E1E1E"/>
                </a:solidFill>
              </a:rPr>
              <a:t>Streamlit</a:t>
            </a:r>
            <a:r>
              <a:rPr lang="en-US" sz="1600" dirty="0">
                <a:solidFill>
                  <a:srgbClr val="1E1E1E"/>
                </a:solidFill>
              </a:rPr>
              <a:t> dashboard for farmers and government agencies to</a:t>
            </a:r>
          </a:p>
          <a:p>
            <a:r>
              <a:rPr lang="en-US" sz="1600" dirty="0">
                <a:solidFill>
                  <a:srgbClr val="1E1E1E"/>
                </a:solidFill>
              </a:rPr>
              <a:t>	 explore seasonal insights in real-time.</a:t>
            </a:r>
          </a:p>
          <a:p>
            <a:r>
              <a:rPr lang="en-US" b="1" dirty="0">
                <a:solidFill>
                  <a:srgbClr val="1E1E1E"/>
                </a:solidFill>
              </a:rPr>
              <a:t>6.  Climate Change Impact Study</a:t>
            </a:r>
          </a:p>
          <a:p>
            <a:r>
              <a:rPr lang="en-US" dirty="0">
                <a:solidFill>
                  <a:srgbClr val="1E1E1E"/>
                </a:solidFill>
              </a:rPr>
              <a:t>     </a:t>
            </a:r>
            <a:r>
              <a:rPr lang="en-US" sz="1600" dirty="0">
                <a:solidFill>
                  <a:srgbClr val="1E1E1E"/>
                </a:solidFill>
              </a:rPr>
              <a:t>- Analize how changing rainfall and temperature trends are shifting seasonal</a:t>
            </a:r>
          </a:p>
          <a:p>
            <a:r>
              <a:rPr lang="en-US" sz="1600" dirty="0">
                <a:solidFill>
                  <a:srgbClr val="1E1E1E"/>
                </a:solidFill>
              </a:rPr>
              <a:t>	 performance over multi-year datasets</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2354720"/>
            <a:ext cx="7826915" cy="830997"/>
          </a:xfrm>
          <a:prstGeom prst="rect">
            <a:avLst/>
          </a:prstGeom>
          <a:noFill/>
        </p:spPr>
        <p:txBody>
          <a:bodyPr wrap="square">
            <a:spAutoFit/>
          </a:bodyPr>
          <a:lstStyle/>
          <a:p>
            <a:r>
              <a:rPr lang="en-US" sz="2400" b="1" dirty="0">
                <a:solidFill>
                  <a:schemeClr val="accent1"/>
                </a:solidFill>
                <a:hlinkClick r:id="rId2">
                  <a:extLst>
                    <a:ext uri="{A12FA001-AC4F-418D-AE19-62706E023703}">
                      <ahyp:hlinkClr xmlns:ahyp="http://schemas.microsoft.com/office/drawing/2018/hyperlinkcolor" val="tx"/>
                    </a:ext>
                  </a:extLst>
                </a:hlinkClick>
              </a:rPr>
              <a:t>https://github.com/Guru1817/Seasonal-Agriculture-Performance-Analysis</a:t>
            </a:r>
            <a:endParaRPr lang="en-US" sz="2400" b="1" dirty="0">
              <a:solidFill>
                <a:schemeClr val="accent1"/>
              </a:solidFill>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grpSp>
        <p:nvGrpSpPr>
          <p:cNvPr id="25" name="Group 24">
            <a:extLst>
              <a:ext uri="{FF2B5EF4-FFF2-40B4-BE49-F238E27FC236}">
                <a16:creationId xmlns:a16="http://schemas.microsoft.com/office/drawing/2014/main" id="{4815A7B4-532E-48C9-AC24-D78ACF3339D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sp>
          <p:nvSpPr>
            <p:cNvPr id="26" name="Freeform 14">
              <a:extLst>
                <a:ext uri="{FF2B5EF4-FFF2-40B4-BE49-F238E27FC236}">
                  <a16:creationId xmlns:a16="http://schemas.microsoft.com/office/drawing/2014/main" id="{D40109F4-CE5C-45F4-856E-F3F69C9FD4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5" name="Straight Connector 14">
              <a:extLst>
                <a:ext uri="{FF2B5EF4-FFF2-40B4-BE49-F238E27FC236}">
                  <a16:creationId xmlns:a16="http://schemas.microsoft.com/office/drawing/2014/main" id="{3CBAA4DE-3D7B-460B-AE98-D9F9990C0B6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BF1ED3E-4F80-4AF6-A41B-44F53DDE610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C0B2D747-3E31-45C5-9A98-A9710A585F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5">
              <a:extLst>
                <a:ext uri="{FF2B5EF4-FFF2-40B4-BE49-F238E27FC236}">
                  <a16:creationId xmlns:a16="http://schemas.microsoft.com/office/drawing/2014/main" id="{A15FD4BA-3020-462D-8BE8-B3A65B8E49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a:extLst>
                <a:ext uri="{FF2B5EF4-FFF2-40B4-BE49-F238E27FC236}">
                  <a16:creationId xmlns:a16="http://schemas.microsoft.com/office/drawing/2014/main" id="{A304284A-7318-4DD5-898C-2F6B23C778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7">
              <a:extLst>
                <a:ext uri="{FF2B5EF4-FFF2-40B4-BE49-F238E27FC236}">
                  <a16:creationId xmlns:a16="http://schemas.microsoft.com/office/drawing/2014/main" id="{9DF48E66-B635-4509-B115-E0987C014E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Rectangle 28">
              <a:extLst>
                <a:ext uri="{FF2B5EF4-FFF2-40B4-BE49-F238E27FC236}">
                  <a16:creationId xmlns:a16="http://schemas.microsoft.com/office/drawing/2014/main" id="{E3B96D94-5F5A-4F4C-810C-917BF4D266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2" name="Rectangle 29">
              <a:extLst>
                <a:ext uri="{FF2B5EF4-FFF2-40B4-BE49-F238E27FC236}">
                  <a16:creationId xmlns:a16="http://schemas.microsoft.com/office/drawing/2014/main" id="{7F3782D6-BFF8-4389-9D39-A023ADAA92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3" name="Isosceles Triangle 32">
              <a:extLst>
                <a:ext uri="{FF2B5EF4-FFF2-40B4-BE49-F238E27FC236}">
                  <a16:creationId xmlns:a16="http://schemas.microsoft.com/office/drawing/2014/main" id="{ECE162D4-FCAE-441B-B5E9-C91DE62124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1600199" y="4571999"/>
            <a:ext cx="7673801" cy="1087656"/>
          </a:xfrm>
        </p:spPr>
        <p:txBody>
          <a:bodyPr vert="horz" lIns="91440" tIns="45720" rIns="91440" bIns="45720" rtlCol="0" anchor="b">
            <a:normAutofit/>
          </a:bodyPr>
          <a:lstStyle/>
          <a:p>
            <a:pPr>
              <a:lnSpc>
                <a:spcPct val="90000"/>
              </a:lnSpc>
            </a:pPr>
            <a:r>
              <a:rPr lang="en-US" sz="3400">
                <a:solidFill>
                  <a:schemeClr val="accent1"/>
                </a:solidFill>
              </a:rPr>
              <a:t>VOIS Course completion certificate - </a:t>
            </a:r>
            <a:br>
              <a:rPr lang="en-US" sz="3400">
                <a:solidFill>
                  <a:schemeClr val="accent1"/>
                </a:solidFill>
              </a:rPr>
            </a:br>
            <a:r>
              <a:rPr lang="en-US" sz="3400">
                <a:solidFill>
                  <a:schemeClr val="accent1"/>
                </a:solidFill>
              </a:rPr>
              <a:t>Course name- Data Visualization </a:t>
            </a:r>
          </a:p>
        </p:txBody>
      </p:sp>
      <p:pic>
        <p:nvPicPr>
          <p:cNvPr id="3" name="Picture 2">
            <a:extLst>
              <a:ext uri="{FF2B5EF4-FFF2-40B4-BE49-F238E27FC236}">
                <a16:creationId xmlns:a16="http://schemas.microsoft.com/office/drawing/2014/main" id="{FD308858-EE06-AE72-601C-69D7E4C10270}"/>
              </a:ext>
            </a:extLst>
          </p:cNvPr>
          <p:cNvPicPr>
            <a:picLocks noChangeAspect="1"/>
          </p:cNvPicPr>
          <p:nvPr/>
        </p:nvPicPr>
        <p:blipFill>
          <a:blip r:embed="rId2"/>
          <a:stretch>
            <a:fillRect/>
          </a:stretch>
        </p:blipFill>
        <p:spPr>
          <a:xfrm>
            <a:off x="1600201" y="609600"/>
            <a:ext cx="5166464" cy="3642357"/>
          </a:xfrm>
          <a:prstGeom prst="rect">
            <a:avLst/>
          </a:prstGeom>
        </p:spPr>
      </p:pic>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207647" y="867747"/>
            <a:ext cx="9178090" cy="4786604"/>
          </a:xfrm>
          <a:prstGeom prst="rect">
            <a:avLst/>
          </a:prstGeom>
        </p:spPr>
        <p:txBody>
          <a:bodyPr anchor="ctr">
            <a:norm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1357</TotalTime>
  <Words>704</Words>
  <Application>Microsoft Office PowerPoint</Application>
  <PresentationFormat>Widescreen</PresentationFormat>
  <Paragraphs>90</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Trebuchet MS</vt:lpstr>
      <vt:lpstr>Wingdings</vt:lpstr>
      <vt:lpstr>Wingdings 3</vt:lpstr>
      <vt:lpstr>Facet</vt:lpstr>
      <vt:lpstr>Project Title - Seasonal-Agriculture-Performance-Analysis</vt:lpstr>
      <vt:lpstr>PROBLEM  STATEMENT</vt:lpstr>
      <vt:lpstr>Project Description</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gurupada nayak</cp:lastModifiedBy>
  <cp:revision>99</cp:revision>
  <dcterms:created xsi:type="dcterms:W3CDTF">2021-07-11T13:13:15Z</dcterms:created>
  <dcterms:modified xsi:type="dcterms:W3CDTF">2026-09-08T18:43:12Z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SIP_Label_defa4170-0d19-0005-0004-bc88714345d2_Enabled">
    <vt:lpwstr>true</vt:lpwstr>
  </property>
  <property fmtid="{D5CDD505-2E9C-101B-9397-08002B2CF9AE}" pid="4" name="MSIP_Label_defa4170-0d19-0005-0004-bc88714345d2_SetDate">
    <vt:lpwstr>2026-09-08T18:42:10Z</vt:lpwstr>
  </property>
  <property fmtid="{D5CDD505-2E9C-101B-9397-08002B2CF9AE}" pid="5" name="MSIP_Label_defa4170-0d19-0005-0004-bc88714345d2_Method">
    <vt:lpwstr>Standard</vt:lpwstr>
  </property>
  <property fmtid="{D5CDD505-2E9C-101B-9397-08002B2CF9AE}" pid="6" name="MSIP_Label_defa4170-0d19-0005-0004-bc88714345d2_Name">
    <vt:lpwstr>defa4170-0d19-0005-0004-bc88714345d2</vt:lpwstr>
  </property>
  <property fmtid="{D5CDD505-2E9C-101B-9397-08002B2CF9AE}" pid="7" name="MSIP_Label_defa4170-0d19-0005-0004-bc88714345d2_SiteId">
    <vt:lpwstr>ea16cef1-3a10-444b-8d5d-c108386399f1</vt:lpwstr>
  </property>
  <property fmtid="{D5CDD505-2E9C-101B-9397-08002B2CF9AE}" pid="8" name="MSIP_Label_defa4170-0d19-0005-0004-bc88714345d2_ActionId">
    <vt:lpwstr>f670ffa9-9813-496c-af49-516cc552a62c</vt:lpwstr>
  </property>
  <property fmtid="{D5CDD505-2E9C-101B-9397-08002B2CF9AE}" pid="9" name="MSIP_Label_defa4170-0d19-0005-0004-bc88714345d2_ContentBits">
    <vt:lpwstr>0</vt:lpwstr>
  </property>
  <property fmtid="{D5CDD505-2E9C-101B-9397-08002B2CF9AE}" pid="10" name="MSIP_Label_defa4170-0d19-0005-0004-bc88714345d2_Tag">
    <vt:lpwstr>10, 3, 0, 1</vt:lpwstr>
  </property>
</Properties>
</file>